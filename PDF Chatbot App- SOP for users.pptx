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2"/>
  </p:notesMasterIdLst>
  <p:sldIdLst>
    <p:sldId id="260" r:id="rId2"/>
    <p:sldId id="261" r:id="rId3"/>
    <p:sldId id="265" r:id="rId4"/>
    <p:sldId id="262" r:id="rId5"/>
    <p:sldId id="266" r:id="rId6"/>
    <p:sldId id="267" r:id="rId7"/>
    <p:sldId id="263" r:id="rId8"/>
    <p:sldId id="257" r:id="rId9"/>
    <p:sldId id="264" r:id="rId10"/>
    <p:sldId id="25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7" autoAdjust="0"/>
    <p:restoredTop sz="94660"/>
  </p:normalViewPr>
  <p:slideViewPr>
    <p:cSldViewPr snapToGrid="0">
      <p:cViewPr varScale="1">
        <p:scale>
          <a:sx n="82" d="100"/>
          <a:sy n="82"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37006-E919-4D1C-B48E-EA9F0EADF4CC}" type="datetimeFigureOut">
              <a:rPr lang="en-IN" smtClean="0"/>
              <a:t>13/01/2026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580656-B245-4D90-8112-AD309A330F40}" type="slidenum">
              <a:rPr lang="en-IN" smtClean="0"/>
              <a:t>‹#›</a:t>
            </a:fld>
            <a:endParaRPr lang="en-IN"/>
          </a:p>
        </p:txBody>
      </p:sp>
    </p:spTree>
    <p:extLst>
      <p:ext uri="{BB962C8B-B14F-4D97-AF65-F5344CB8AC3E}">
        <p14:creationId xmlns:p14="http://schemas.microsoft.com/office/powerpoint/2010/main" val="2774726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580656-B245-4D90-8112-AD309A330F40}" type="slidenum">
              <a:rPr lang="en-IN" smtClean="0"/>
              <a:t>2</a:t>
            </a:fld>
            <a:endParaRPr lang="en-IN"/>
          </a:p>
        </p:txBody>
      </p:sp>
    </p:spTree>
    <p:extLst>
      <p:ext uri="{BB962C8B-B14F-4D97-AF65-F5344CB8AC3E}">
        <p14:creationId xmlns:p14="http://schemas.microsoft.com/office/powerpoint/2010/main" val="2744961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580656-B245-4D90-8112-AD309A330F40}" type="slidenum">
              <a:rPr lang="en-IN" smtClean="0"/>
              <a:t>3</a:t>
            </a:fld>
            <a:endParaRPr lang="en-IN"/>
          </a:p>
        </p:txBody>
      </p:sp>
    </p:spTree>
    <p:extLst>
      <p:ext uri="{BB962C8B-B14F-4D97-AF65-F5344CB8AC3E}">
        <p14:creationId xmlns:p14="http://schemas.microsoft.com/office/powerpoint/2010/main" val="2326149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E94B6-272B-4199-95DF-75D1735253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6351AA-4A19-40C7-9469-E6DCB2EFE2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A4D950-280F-415C-AE27-155F0BD39D14}"/>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5" name="Footer Placeholder 4">
            <a:extLst>
              <a:ext uri="{FF2B5EF4-FFF2-40B4-BE49-F238E27FC236}">
                <a16:creationId xmlns:a16="http://schemas.microsoft.com/office/drawing/2014/main" id="{1E6967EA-C560-4D8E-90B5-F193B725FD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D6243D-B267-4038-8005-EA2413AB7212}"/>
              </a:ext>
            </a:extLst>
          </p:cNvPr>
          <p:cNvSpPr>
            <a:spLocks noGrp="1"/>
          </p:cNvSpPr>
          <p:nvPr>
            <p:ph type="sldNum" sz="quarter" idx="12"/>
          </p:nvPr>
        </p:nvSpPr>
        <p:spPr/>
        <p:txBody>
          <a:bodyPr/>
          <a:lstStyle/>
          <a:p>
            <a:fld id="{431F1EC9-0861-42C6-9CA3-FC58A48E4708}" type="slidenum">
              <a:rPr lang="en-IN" smtClean="0"/>
              <a:t>‹#›</a:t>
            </a:fld>
            <a:endParaRPr lang="en-IN"/>
          </a:p>
        </p:txBody>
      </p:sp>
    </p:spTree>
    <p:extLst>
      <p:ext uri="{BB962C8B-B14F-4D97-AF65-F5344CB8AC3E}">
        <p14:creationId xmlns:p14="http://schemas.microsoft.com/office/powerpoint/2010/main" val="214035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7100D-C5E4-4C17-A96E-863FB720EC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087F41-695B-46A3-9312-2D9ECFBF17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2705DB-6D2E-441C-9894-91183D1E5B1D}"/>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5" name="Footer Placeholder 4">
            <a:extLst>
              <a:ext uri="{FF2B5EF4-FFF2-40B4-BE49-F238E27FC236}">
                <a16:creationId xmlns:a16="http://schemas.microsoft.com/office/drawing/2014/main" id="{8AE7C82C-1427-4F5D-BBF3-D4ECA6AF52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13E015-A549-46EB-B83F-A91EAED42869}"/>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1554040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D91B5-236B-4FED-A3CA-6B9AE14896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E31946-587C-4C8D-8AB5-1E2DF48827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2D985F-53E0-491E-9D5A-9310C6F66001}"/>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5" name="Footer Placeholder 4">
            <a:extLst>
              <a:ext uri="{FF2B5EF4-FFF2-40B4-BE49-F238E27FC236}">
                <a16:creationId xmlns:a16="http://schemas.microsoft.com/office/drawing/2014/main" id="{990F1AA6-5442-4F1A-AFB0-A23FC5DFB4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10AB45-C832-4C9B-9A22-9BBB41259AFD}"/>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4172045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1B87-CA91-4988-998E-D5DA3E0172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28E7A3-C9C5-4014-87F4-3F6A84AD39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84E8F73-D8E7-45E3-B82B-4A785ECEDF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C12B6F-0526-48C4-B6E2-6C882F94B138}"/>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6" name="Footer Placeholder 5">
            <a:extLst>
              <a:ext uri="{FF2B5EF4-FFF2-40B4-BE49-F238E27FC236}">
                <a16:creationId xmlns:a16="http://schemas.microsoft.com/office/drawing/2014/main" id="{3BA30051-BFC8-4119-8470-3ABB608645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E085E-BD3E-485F-9AB3-50B040AAC85C}"/>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3461411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6A82A-8E6C-40D8-AB26-57F8F01352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640D42-748E-4C64-95E0-6D71177B08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969FB2-A343-4C11-A0C3-4142D3CFC1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077A0B-3CFE-409F-BAEF-2A0550E966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2F787F-1D07-48C3-A6E7-F642EDBFAD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86BF13-D716-4B4E-9B0F-036CA3734773}"/>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8" name="Footer Placeholder 7">
            <a:extLst>
              <a:ext uri="{FF2B5EF4-FFF2-40B4-BE49-F238E27FC236}">
                <a16:creationId xmlns:a16="http://schemas.microsoft.com/office/drawing/2014/main" id="{C2695180-F14C-464D-B0EB-D996784162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A800C6-0489-47A0-BE49-E111BBB69579}"/>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59159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7791B-C6AA-46CF-8778-DD297C4163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E64A38-CBE1-4D11-B425-F5A5326E2638}"/>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4" name="Footer Placeholder 3">
            <a:extLst>
              <a:ext uri="{FF2B5EF4-FFF2-40B4-BE49-F238E27FC236}">
                <a16:creationId xmlns:a16="http://schemas.microsoft.com/office/drawing/2014/main" id="{350A97F9-24EE-4C3B-8861-1CE8621CB4C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DB42D8-ACD3-4416-BC02-1EE18D1824F1}"/>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998446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065E0A-A9B5-4729-9DDA-B4A12554A28F}"/>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3" name="Footer Placeholder 2">
            <a:extLst>
              <a:ext uri="{FF2B5EF4-FFF2-40B4-BE49-F238E27FC236}">
                <a16:creationId xmlns:a16="http://schemas.microsoft.com/office/drawing/2014/main" id="{F3CE78A4-CE89-483E-A95C-4F6DF468F5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64B13B-19AF-4237-929A-F429644FD274}"/>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2549484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142F2-C815-495C-9F41-6336EDF5F9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9B01C4-7996-4010-BE0B-F7FD2ED4C4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ABBC11-1CFD-4CE0-BC21-0B62CECEFF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0D334-B041-42E9-A347-793CBDD2D0CE}"/>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6" name="Footer Placeholder 5">
            <a:extLst>
              <a:ext uri="{FF2B5EF4-FFF2-40B4-BE49-F238E27FC236}">
                <a16:creationId xmlns:a16="http://schemas.microsoft.com/office/drawing/2014/main" id="{C67E01E1-7CE8-4C67-88CE-3FE00E9569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BCFD03-E78D-4888-BB79-DD1CB8B9C9AA}"/>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3817866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D5B83-8594-4355-AE4C-EBE4518DF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CB95BE-E773-4932-94A1-8D41394148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6791F9-AE54-44A6-8A0A-6F61E0B57D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35537-90E7-4B6A-A057-D8F1B089B98C}"/>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6" name="Footer Placeholder 5">
            <a:extLst>
              <a:ext uri="{FF2B5EF4-FFF2-40B4-BE49-F238E27FC236}">
                <a16:creationId xmlns:a16="http://schemas.microsoft.com/office/drawing/2014/main" id="{9AACEB2F-48C9-4EB2-94B9-88C25C44A9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920805-FE70-4B43-B4A3-5D38761F461F}"/>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4284448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04317-599E-4F68-BFDC-BB16FD53DB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931538-D107-43D9-A786-3B0C026644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CBD51F-DC3B-475A-86A7-7BCE57113140}"/>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5" name="Footer Placeholder 4">
            <a:extLst>
              <a:ext uri="{FF2B5EF4-FFF2-40B4-BE49-F238E27FC236}">
                <a16:creationId xmlns:a16="http://schemas.microsoft.com/office/drawing/2014/main" id="{39C85A1D-9A9D-4F29-A176-7D3C8824E5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DDB844-56B4-4AC2-BD36-CF0245C1E15C}"/>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1917789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83E52F-B60B-4E71-B3F6-1BBB4B53A9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672906-525E-4AA2-9E22-C3A343F323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65D249-6577-47FC-9F95-CDD4038C42DA}"/>
              </a:ext>
            </a:extLst>
          </p:cNvPr>
          <p:cNvSpPr>
            <a:spLocks noGrp="1"/>
          </p:cNvSpPr>
          <p:nvPr>
            <p:ph type="dt" sz="half" idx="10"/>
          </p:nvPr>
        </p:nvSpPr>
        <p:spPr/>
        <p:txBody>
          <a:bodyPr/>
          <a:lstStyle/>
          <a:p>
            <a:fld id="{A3A3C042-A578-4050-8AE9-860CD3DE00D3}" type="datetimeFigureOut">
              <a:rPr lang="en-IN" smtClean="0"/>
              <a:t>13/01/2026</a:t>
            </a:fld>
            <a:endParaRPr lang="en-IN"/>
          </a:p>
        </p:txBody>
      </p:sp>
      <p:sp>
        <p:nvSpPr>
          <p:cNvPr id="5" name="Footer Placeholder 4">
            <a:extLst>
              <a:ext uri="{FF2B5EF4-FFF2-40B4-BE49-F238E27FC236}">
                <a16:creationId xmlns:a16="http://schemas.microsoft.com/office/drawing/2014/main" id="{2AD210B7-8EDF-461C-B99B-47E4402660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E3BBE6-2007-4D0A-A147-3072BC03F8AA}"/>
              </a:ext>
            </a:extLst>
          </p:cNvPr>
          <p:cNvSpPr>
            <a:spLocks noGrp="1"/>
          </p:cNvSpPr>
          <p:nvPr>
            <p:ph type="sldNum" sz="quarter" idx="12"/>
          </p:nvPr>
        </p:nvSpPr>
        <p:spPr/>
        <p:txBody>
          <a:bodyPr/>
          <a:lstStyle/>
          <a:p>
            <a:fld id="{BB930A6A-851C-4F86-83BF-5482E44EF77F}" type="slidenum">
              <a:rPr lang="en-IN" smtClean="0"/>
              <a:t>‹#›</a:t>
            </a:fld>
            <a:endParaRPr lang="en-IN"/>
          </a:p>
        </p:txBody>
      </p:sp>
    </p:spTree>
    <p:extLst>
      <p:ext uri="{BB962C8B-B14F-4D97-AF65-F5344CB8AC3E}">
        <p14:creationId xmlns:p14="http://schemas.microsoft.com/office/powerpoint/2010/main" val="3058870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BB0AAD-8F03-44E5-BD63-6B8AE559FC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9E89E1-C126-4706-8408-5B2B0DE891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547C0A-75F4-4950-B85D-B419A96CAE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A3C042-A578-4050-8AE9-860CD3DE00D3}" type="datetimeFigureOut">
              <a:rPr lang="en-IN" smtClean="0"/>
              <a:t>13/01/2026</a:t>
            </a:fld>
            <a:endParaRPr lang="en-IN"/>
          </a:p>
        </p:txBody>
      </p:sp>
      <p:sp>
        <p:nvSpPr>
          <p:cNvPr id="5" name="Footer Placeholder 4">
            <a:extLst>
              <a:ext uri="{FF2B5EF4-FFF2-40B4-BE49-F238E27FC236}">
                <a16:creationId xmlns:a16="http://schemas.microsoft.com/office/drawing/2014/main" id="{12821F3F-2CAC-481D-915A-814400368C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E0C545-FB7F-46ED-AFE2-614565A047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930A6A-851C-4F86-83BF-5482E44EF77F}" type="slidenum">
              <a:rPr lang="en-IN" smtClean="0"/>
              <a:t>‹#›</a:t>
            </a:fld>
            <a:endParaRPr lang="en-IN"/>
          </a:p>
        </p:txBody>
      </p:sp>
    </p:spTree>
    <p:extLst>
      <p:ext uri="{BB962C8B-B14F-4D97-AF65-F5344CB8AC3E}">
        <p14:creationId xmlns:p14="http://schemas.microsoft.com/office/powerpoint/2010/main" val="14866829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pdfquerybot.chola.murugappa.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cloud.google.com/vision/pricing#cloud-vision-pricing"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92765" y="516836"/>
            <a:ext cx="12099235" cy="6262698"/>
          </a:xfrm>
        </p:spPr>
        <p:txBody>
          <a:bodyPr>
            <a:normAutofit/>
          </a:bodyPr>
          <a:lstStyle/>
          <a:p>
            <a:pPr marL="0" indent="0">
              <a:lnSpc>
                <a:spcPct val="100000"/>
              </a:lnSpc>
              <a:buNone/>
            </a:pPr>
            <a:r>
              <a:rPr lang="en-US" sz="1100" b="0" i="0" dirty="0">
                <a:solidFill>
                  <a:srgbClr val="242424"/>
                </a:solidFill>
                <a:effectLst/>
                <a:latin typeface="source-serif-pro"/>
              </a:rPr>
              <a:t>.</a:t>
            </a:r>
            <a:r>
              <a:rPr lang="en-US" sz="1600" b="1" dirty="0">
                <a:solidFill>
                  <a:srgbClr val="0070C0"/>
                </a:solidFill>
              </a:rPr>
              <a:t>Generative AI</a:t>
            </a:r>
            <a:r>
              <a:rPr lang="en-US" sz="1600" dirty="0">
                <a:solidFill>
                  <a:srgbClr val="0070C0"/>
                </a:solidFill>
              </a:rPr>
              <a:t> </a:t>
            </a:r>
            <a:r>
              <a:rPr lang="en-US" sz="1600" dirty="0"/>
              <a:t>is a </a:t>
            </a:r>
            <a:r>
              <a:rPr lang="en-US" sz="1600" b="0" i="0" dirty="0">
                <a:solidFill>
                  <a:srgbClr val="242424"/>
                </a:solidFill>
                <a:effectLst/>
                <a:latin typeface="source-serif-pro"/>
              </a:rPr>
              <a:t>cutting-edge technology that’s transforming the way we create and interact with content.</a:t>
            </a:r>
            <a:r>
              <a:rPr lang="en-US" sz="1600" b="1" i="0" dirty="0">
                <a:solidFill>
                  <a:srgbClr val="242424"/>
                </a:solidFill>
                <a:effectLst/>
                <a:latin typeface="source-serif-pro"/>
              </a:rPr>
              <a:t> </a:t>
            </a:r>
            <a:r>
              <a:rPr lang="en-US" sz="1600" dirty="0">
                <a:solidFill>
                  <a:srgbClr val="242424"/>
                </a:solidFill>
                <a:latin typeface="source-serif-pro"/>
              </a:rPr>
              <a:t>It’s </a:t>
            </a:r>
            <a:r>
              <a:rPr lang="en-US" sz="1600" dirty="0"/>
              <a:t>type of artificial intelligence that can create new content, such as text, images, music, video or code. It learns patterns from massive amounts of data and then generates similar content. Think of it as a creative AI assistant that can write stories, design artwork, or compose music.</a:t>
            </a:r>
          </a:p>
          <a:p>
            <a:pPr marL="0" indent="0">
              <a:lnSpc>
                <a:spcPct val="100000"/>
              </a:lnSpc>
              <a:buNone/>
            </a:pPr>
            <a:r>
              <a:rPr lang="en-US" sz="1600" b="1" dirty="0">
                <a:solidFill>
                  <a:srgbClr val="0070C0"/>
                </a:solidFill>
              </a:rPr>
              <a:t>Generative AI </a:t>
            </a:r>
            <a:r>
              <a:rPr lang="en-US" sz="1600" b="1" dirty="0"/>
              <a:t>is largely derived from advancements in </a:t>
            </a:r>
            <a:r>
              <a:rPr lang="en-US" sz="1600" b="1" dirty="0">
                <a:solidFill>
                  <a:srgbClr val="0070C0"/>
                </a:solidFill>
              </a:rPr>
              <a:t>machine learning</a:t>
            </a:r>
            <a:r>
              <a:rPr lang="en-US" sz="1600" b="1" dirty="0"/>
              <a:t>.</a:t>
            </a:r>
            <a:r>
              <a:rPr lang="en-US" sz="1600" dirty="0"/>
              <a:t> Specifically, it builds upon Neural Networks, Deep Learning, Natural Language processing, Computer Vision. These foundational technologies have evolved over decades, but their convergence and application to generating new content have led to the rapid growth of generative AI.</a:t>
            </a:r>
          </a:p>
          <a:p>
            <a:pPr marL="0" indent="0">
              <a:lnSpc>
                <a:spcPct val="100000"/>
              </a:lnSpc>
              <a:buNone/>
            </a:pPr>
            <a:r>
              <a:rPr lang="en-US" sz="1600" dirty="0"/>
              <a:t>RAG (Retrieval Augmented Generation) is transforming industries by providing access to relevant information and generating human-quality text formats. Here are some key industrial use cases:</a:t>
            </a:r>
          </a:p>
          <a:p>
            <a:pPr marL="0" indent="0">
              <a:lnSpc>
                <a:spcPct val="100000"/>
              </a:lnSpc>
              <a:buNone/>
            </a:pPr>
            <a:r>
              <a:rPr lang="en-IN" sz="1800" dirty="0">
                <a:solidFill>
                  <a:srgbClr val="FF0000"/>
                </a:solidFill>
              </a:rPr>
              <a:t>Industrial Use Cases:</a:t>
            </a:r>
          </a:p>
          <a:p>
            <a:pPr marL="0" indent="0">
              <a:lnSpc>
                <a:spcPct val="100000"/>
              </a:lnSpc>
              <a:buNone/>
            </a:pPr>
            <a:r>
              <a:rPr lang="en-IN" sz="1400" dirty="0">
                <a:solidFill>
                  <a:srgbClr val="0070C0"/>
                </a:solidFill>
              </a:rPr>
              <a:t>Internal Search:  </a:t>
            </a:r>
            <a:r>
              <a:rPr lang="en-IN" sz="1400" dirty="0"/>
              <a:t>Enabling employees to find relevant information within the Companies data.</a:t>
            </a:r>
          </a:p>
          <a:p>
            <a:pPr marL="0" indent="0">
              <a:lnSpc>
                <a:spcPct val="100000"/>
              </a:lnSpc>
              <a:buNone/>
            </a:pPr>
            <a:r>
              <a:rPr lang="en-IN" sz="1400" dirty="0">
                <a:solidFill>
                  <a:srgbClr val="0070C0"/>
                </a:solidFill>
              </a:rPr>
              <a:t>Document Summarization: </a:t>
            </a:r>
            <a:r>
              <a:rPr lang="en-IN" sz="1400" dirty="0"/>
              <a:t>Generating concise summaries of lengthy documents</a:t>
            </a:r>
          </a:p>
          <a:p>
            <a:pPr marL="0" indent="0">
              <a:lnSpc>
                <a:spcPct val="100000"/>
              </a:lnSpc>
              <a:buNone/>
            </a:pPr>
            <a:r>
              <a:rPr lang="en-US" sz="1400" dirty="0">
                <a:solidFill>
                  <a:srgbClr val="0070C0"/>
                </a:solidFill>
              </a:rPr>
              <a:t>Legal Research: </a:t>
            </a:r>
            <a:r>
              <a:rPr lang="en-US" sz="1400" dirty="0"/>
              <a:t>Analyzing case law and statutes to support legal arguments.</a:t>
            </a:r>
            <a:r>
              <a:rPr lang="en-IN" sz="1400" dirty="0"/>
              <a:t> </a:t>
            </a:r>
            <a:r>
              <a:rPr lang="en-US" sz="1400" dirty="0"/>
              <a:t>Extracting </a:t>
            </a:r>
          </a:p>
          <a:p>
            <a:pPr marL="0" indent="0">
              <a:lnSpc>
                <a:spcPct val="100000"/>
              </a:lnSpc>
              <a:buNone/>
            </a:pPr>
            <a:r>
              <a:rPr lang="en-US" sz="1400" dirty="0"/>
              <a:t>key information from legal documents.</a:t>
            </a:r>
            <a:endParaRPr lang="en-IN" sz="1400" dirty="0"/>
          </a:p>
          <a:p>
            <a:pPr marL="0" indent="0">
              <a:lnSpc>
                <a:spcPct val="100000"/>
              </a:lnSpc>
              <a:buNone/>
            </a:pPr>
            <a:r>
              <a:rPr lang="en-US" sz="1400" dirty="0">
                <a:solidFill>
                  <a:srgbClr val="0070C0"/>
                </a:solidFill>
              </a:rPr>
              <a:t>Product Recommendations: </a:t>
            </a:r>
            <a:r>
              <a:rPr lang="en-US" sz="1400" dirty="0"/>
              <a:t>Suggesting products based on customer behavior and preferences</a:t>
            </a:r>
            <a:r>
              <a:rPr lang="en-US" sz="1400" dirty="0">
                <a:solidFill>
                  <a:srgbClr val="0070C0"/>
                </a:solidFill>
              </a:rPr>
              <a:t>.</a:t>
            </a:r>
          </a:p>
          <a:p>
            <a:pPr marL="0" indent="0">
              <a:lnSpc>
                <a:spcPct val="100000"/>
              </a:lnSpc>
              <a:buNone/>
            </a:pPr>
            <a:r>
              <a:rPr lang="en-US" sz="1400" dirty="0">
                <a:solidFill>
                  <a:srgbClr val="0070C0"/>
                </a:solidFill>
              </a:rPr>
              <a:t>Human Resources: </a:t>
            </a:r>
            <a:r>
              <a:rPr lang="en-US" sz="1400" dirty="0"/>
              <a:t>Screening resumes, generating job descriptions, and providing emp support</a:t>
            </a:r>
            <a:r>
              <a:rPr lang="en-US" sz="1400" dirty="0">
                <a:solidFill>
                  <a:srgbClr val="0070C0"/>
                </a:solidFill>
              </a:rPr>
              <a:t>.</a:t>
            </a:r>
          </a:p>
          <a:p>
            <a:pPr marL="0" indent="0">
              <a:lnSpc>
                <a:spcPct val="100000"/>
              </a:lnSpc>
              <a:buNone/>
            </a:pPr>
            <a:r>
              <a:rPr lang="en-US" sz="1400" dirty="0">
                <a:solidFill>
                  <a:srgbClr val="0070C0"/>
                </a:solidFill>
              </a:rPr>
              <a:t>Fraud Detection: </a:t>
            </a:r>
            <a:r>
              <a:rPr lang="en-US" sz="1400" dirty="0"/>
              <a:t>Identifying fraudulent activities by comparing data against known patterns.</a:t>
            </a:r>
          </a:p>
          <a:p>
            <a:pPr marL="0" indent="0">
              <a:lnSpc>
                <a:spcPct val="100000"/>
              </a:lnSpc>
              <a:buNone/>
            </a:pPr>
            <a:r>
              <a:rPr lang="en-US" sz="1400" dirty="0">
                <a:solidFill>
                  <a:srgbClr val="0070C0"/>
                </a:solidFill>
              </a:rPr>
              <a:t>Music Composition: </a:t>
            </a:r>
            <a:r>
              <a:rPr lang="en-US" sz="1400" dirty="0"/>
              <a:t>Generating original music, </a:t>
            </a:r>
            <a:r>
              <a:rPr lang="en-IN" sz="1400" dirty="0"/>
              <a:t>unique sound effects</a:t>
            </a:r>
            <a:r>
              <a:rPr lang="en-US" sz="2000" dirty="0"/>
              <a:t> </a:t>
            </a:r>
            <a:r>
              <a:rPr lang="en-US" sz="1400" dirty="0"/>
              <a:t>for films and TV shows.</a:t>
            </a:r>
          </a:p>
          <a:p>
            <a:pPr marL="0" indent="0">
              <a:lnSpc>
                <a:spcPct val="100000"/>
              </a:lnSpc>
              <a:buNone/>
            </a:pPr>
            <a:r>
              <a:rPr lang="en-US" sz="1400" dirty="0">
                <a:solidFill>
                  <a:srgbClr val="0070C0"/>
                </a:solidFill>
              </a:rPr>
              <a:t>Video Editing: </a:t>
            </a:r>
            <a:r>
              <a:rPr lang="en-US" sz="1400" dirty="0"/>
              <a:t>Automating tasks like color correction, noise reduction, and object removal</a:t>
            </a:r>
          </a:p>
        </p:txBody>
      </p:sp>
      <p:pic>
        <p:nvPicPr>
          <p:cNvPr id="6" name="Picture 5">
            <a:extLst>
              <a:ext uri="{FF2B5EF4-FFF2-40B4-BE49-F238E27FC236}">
                <a16:creationId xmlns:a16="http://schemas.microsoft.com/office/drawing/2014/main" id="{4DF198F0-3446-4D86-8C92-374A87EDE3FC}"/>
              </a:ext>
            </a:extLst>
          </p:cNvPr>
          <p:cNvPicPr>
            <a:picLocks noChangeAspect="1"/>
          </p:cNvPicPr>
          <p:nvPr/>
        </p:nvPicPr>
        <p:blipFill>
          <a:blip r:embed="rId2"/>
          <a:stretch>
            <a:fillRect/>
          </a:stretch>
        </p:blipFill>
        <p:spPr>
          <a:xfrm>
            <a:off x="7082727" y="2535846"/>
            <a:ext cx="5016508" cy="3662438"/>
          </a:xfrm>
          <a:prstGeom prst="rect">
            <a:avLst/>
          </a:prstGeom>
        </p:spPr>
      </p:pic>
    </p:spTree>
    <p:extLst>
      <p:ext uri="{BB962C8B-B14F-4D97-AF65-F5344CB8AC3E}">
        <p14:creationId xmlns:p14="http://schemas.microsoft.com/office/powerpoint/2010/main" val="40701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IN" sz="2400" b="1" dirty="0">
                <a:solidFill>
                  <a:schemeClr val="bg1"/>
                </a:solidFill>
                <a:latin typeface="+mn-lt"/>
                <a:ea typeface="+mn-ea"/>
                <a:cs typeface="+mn-cs"/>
              </a:rPr>
              <a:t>Generative AI Apps</a:t>
            </a: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1" y="468630"/>
            <a:ext cx="12271512" cy="6275070"/>
          </a:xfrm>
        </p:spPr>
        <p:txBody>
          <a:bodyPr>
            <a:normAutofit/>
          </a:bodyPr>
          <a:lstStyle/>
          <a:p>
            <a:pPr marL="0" indent="0">
              <a:lnSpc>
                <a:spcPct val="100000"/>
              </a:lnSpc>
              <a:buNone/>
            </a:pPr>
            <a:r>
              <a:rPr lang="en-US" sz="1800" b="1" dirty="0">
                <a:solidFill>
                  <a:srgbClr val="FF0000"/>
                </a:solidFill>
                <a:latin typeface="source-serif-pro"/>
              </a:rPr>
              <a:t>PDF Query Bot Authentication Page</a:t>
            </a:r>
            <a:r>
              <a:rPr lang="en-US" sz="1800" dirty="0">
                <a:solidFill>
                  <a:srgbClr val="FF0000"/>
                </a:solidFill>
              </a:rPr>
              <a:t>: </a:t>
            </a:r>
            <a:endParaRPr lang="en-US" sz="1800" b="1" dirty="0">
              <a:solidFill>
                <a:srgbClr val="0070C0"/>
              </a:solidFill>
            </a:endParaRPr>
          </a:p>
          <a:p>
            <a:pPr marL="0" indent="0">
              <a:lnSpc>
                <a:spcPct val="100000"/>
              </a:lnSpc>
              <a:buNone/>
            </a:pPr>
            <a:r>
              <a:rPr lang="en-US" sz="1600" b="1" dirty="0">
                <a:solidFill>
                  <a:srgbClr val="0070C0"/>
                </a:solidFill>
              </a:rPr>
              <a:t>URL for access application </a:t>
            </a:r>
            <a:r>
              <a:rPr lang="en-US" sz="1600" dirty="0"/>
              <a:t>: </a:t>
            </a:r>
            <a:r>
              <a:rPr lang="en-US" sz="1600" dirty="0">
                <a:hlinkClick r:id="rId3"/>
              </a:rPr>
              <a:t>https://pdfquerybot.chola.murugappa.com/</a:t>
            </a:r>
            <a:endParaRPr lang="en-US" sz="1600" dirty="0"/>
          </a:p>
          <a:p>
            <a:pPr marL="0" indent="0">
              <a:lnSpc>
                <a:spcPct val="100000"/>
              </a:lnSpc>
              <a:buNone/>
            </a:pPr>
            <a:r>
              <a:rPr lang="en-US" sz="1600" b="1" i="0" dirty="0">
                <a:solidFill>
                  <a:srgbClr val="0070C0"/>
                </a:solidFill>
                <a:effectLst/>
                <a:latin typeface="source-serif-pro"/>
              </a:rPr>
              <a:t>Cred</a:t>
            </a:r>
            <a:r>
              <a:rPr lang="en-US" sz="1600" b="1" dirty="0">
                <a:solidFill>
                  <a:srgbClr val="0070C0"/>
                </a:solidFill>
                <a:latin typeface="source-serif-pro"/>
              </a:rPr>
              <a:t>entials</a:t>
            </a:r>
            <a:r>
              <a:rPr lang="en-US" sz="1600" b="1" dirty="0">
                <a:solidFill>
                  <a:srgbClr val="0070C0"/>
                </a:solidFill>
              </a:rPr>
              <a:t> for access </a:t>
            </a:r>
            <a:r>
              <a:rPr lang="en-US" sz="1600" dirty="0"/>
              <a:t>: </a:t>
            </a:r>
            <a:r>
              <a:rPr lang="en-US" sz="1400" dirty="0">
                <a:solidFill>
                  <a:srgbClr val="FF0000"/>
                </a:solidFill>
              </a:rPr>
              <a:t> </a:t>
            </a:r>
            <a:r>
              <a:rPr lang="en-US" sz="1400" dirty="0">
                <a:solidFill>
                  <a:srgbClr val="FF0000"/>
                </a:solidFill>
                <a:latin typeface="Times New Roman" panose="02020603050405020304" pitchFamily="18" charset="0"/>
                <a:cs typeface="Times New Roman" panose="02020603050405020304" pitchFamily="18" charset="0"/>
              </a:rPr>
              <a:t>(username/ password) </a:t>
            </a:r>
            <a:r>
              <a:rPr lang="en-US" sz="1400" dirty="0">
                <a:latin typeface="Times New Roman" panose="02020603050405020304" pitchFamily="18" charset="0"/>
                <a:cs typeface="Times New Roman" panose="02020603050405020304" pitchFamily="18" charset="0"/>
              </a:rPr>
              <a:t>:  treasury / C######3</a:t>
            </a:r>
          </a:p>
          <a:p>
            <a:pPr marL="0" indent="0">
              <a:lnSpc>
                <a:spcPct val="100000"/>
              </a:lnSpc>
              <a:buNone/>
            </a:pPr>
            <a:endParaRPr lang="en-US" sz="1400" dirty="0">
              <a:latin typeface="Times New Roman" panose="02020603050405020304" pitchFamily="18" charset="0"/>
              <a:cs typeface="Times New Roman" panose="02020603050405020304" pitchFamily="18" charset="0"/>
            </a:endParaRPr>
          </a:p>
          <a:p>
            <a:pPr marL="0" indent="0">
              <a:lnSpc>
                <a:spcPct val="100000"/>
              </a:lnSpc>
              <a:spcBef>
                <a:spcPts val="600"/>
              </a:spcBef>
              <a:buNone/>
            </a:pPr>
            <a:r>
              <a:rPr lang="en-US" sz="1600" b="1" dirty="0">
                <a:solidFill>
                  <a:srgbClr val="0070C0"/>
                </a:solidFill>
                <a:latin typeface="source-serif-pro"/>
              </a:rPr>
              <a:t>L</a:t>
            </a:r>
            <a:r>
              <a:rPr lang="en-US" sz="1600" b="1" i="0" dirty="0">
                <a:solidFill>
                  <a:srgbClr val="0070C0"/>
                </a:solidFill>
                <a:effectLst/>
                <a:latin typeface="source-serif-pro"/>
              </a:rPr>
              <a:t>ogin Page</a:t>
            </a:r>
            <a:r>
              <a:rPr lang="en-US" sz="1600" b="1" dirty="0">
                <a:solidFill>
                  <a:srgbClr val="0070C0"/>
                </a:solidFill>
              </a:rPr>
              <a:t> </a:t>
            </a:r>
            <a:r>
              <a:rPr lang="en-US" sz="1600" dirty="0"/>
              <a:t>: </a:t>
            </a:r>
          </a:p>
          <a:p>
            <a:pPr marL="0" indent="0">
              <a:lnSpc>
                <a:spcPct val="100000"/>
              </a:lnSpc>
              <a:spcBef>
                <a:spcPts val="600"/>
              </a:spcBef>
              <a:buNone/>
            </a:pPr>
            <a:r>
              <a:rPr lang="en-US" sz="1400" dirty="0"/>
              <a:t>      Once you visited the above mentioned website from any browser will get you </a:t>
            </a:r>
          </a:p>
          <a:p>
            <a:pPr marL="0" indent="0">
              <a:lnSpc>
                <a:spcPct val="100000"/>
              </a:lnSpc>
              <a:spcBef>
                <a:spcPts val="0"/>
              </a:spcBef>
              <a:buNone/>
            </a:pPr>
            <a:r>
              <a:rPr lang="en-US" sz="1400" dirty="0"/>
              <a:t>To login page, where it will ask your team credentials  like username and password.</a:t>
            </a:r>
          </a:p>
          <a:p>
            <a:pPr marL="0" indent="0">
              <a:lnSpc>
                <a:spcPct val="100000"/>
              </a:lnSpc>
              <a:spcBef>
                <a:spcPts val="0"/>
              </a:spcBef>
              <a:buNone/>
            </a:pPr>
            <a:r>
              <a:rPr lang="en-US" sz="1400" dirty="0"/>
              <a:t>Please enter your credentials and click the login button. </a:t>
            </a:r>
            <a:endParaRPr lang="en-IN" sz="1400" dirty="0">
              <a:solidFill>
                <a:schemeClr val="accent1"/>
              </a:solidFill>
              <a:cs typeface="Times New Roman" panose="02020603050405020304" pitchFamily="18" charset="0"/>
            </a:endParaRPr>
          </a:p>
          <a:p>
            <a:pPr marL="0" indent="0">
              <a:lnSpc>
                <a:spcPct val="100000"/>
              </a:lnSpc>
              <a:spcBef>
                <a:spcPts val="600"/>
              </a:spcBef>
              <a:buNone/>
            </a:pPr>
            <a:endParaRPr lang="en-US" sz="1600" b="1" i="0" dirty="0">
              <a:solidFill>
                <a:srgbClr val="0070C0"/>
              </a:solidFill>
              <a:effectLst/>
              <a:latin typeface="source-serif-pro"/>
            </a:endParaRPr>
          </a:p>
          <a:p>
            <a:pPr marL="0" indent="0">
              <a:lnSpc>
                <a:spcPct val="100000"/>
              </a:lnSpc>
              <a:spcBef>
                <a:spcPts val="600"/>
              </a:spcBef>
              <a:buNone/>
            </a:pPr>
            <a:r>
              <a:rPr lang="en-US" sz="1600" b="1" i="0" dirty="0">
                <a:solidFill>
                  <a:srgbClr val="0070C0"/>
                </a:solidFill>
                <a:effectLst/>
                <a:latin typeface="source-serif-pro"/>
              </a:rPr>
              <a:t>Create </a:t>
            </a:r>
            <a:r>
              <a:rPr lang="en-US" sz="1600" b="1" dirty="0">
                <a:solidFill>
                  <a:srgbClr val="0070C0"/>
                </a:solidFill>
                <a:latin typeface="source-serif-pro"/>
              </a:rPr>
              <a:t>new account</a:t>
            </a:r>
            <a:r>
              <a:rPr lang="en-US" sz="1600" b="1" i="0" dirty="0">
                <a:solidFill>
                  <a:srgbClr val="0070C0"/>
                </a:solidFill>
                <a:effectLst/>
                <a:latin typeface="source-serif-pro"/>
              </a:rPr>
              <a:t> Page</a:t>
            </a:r>
            <a:r>
              <a:rPr lang="en-US" sz="1600" b="1" dirty="0">
                <a:solidFill>
                  <a:srgbClr val="0070C0"/>
                </a:solidFill>
              </a:rPr>
              <a:t> </a:t>
            </a:r>
            <a:r>
              <a:rPr lang="en-US" sz="1600" dirty="0"/>
              <a:t>: </a:t>
            </a:r>
          </a:p>
          <a:p>
            <a:pPr marL="0" indent="0">
              <a:lnSpc>
                <a:spcPct val="100000"/>
              </a:lnSpc>
              <a:spcBef>
                <a:spcPts val="0"/>
              </a:spcBef>
              <a:buNone/>
            </a:pPr>
            <a:r>
              <a:rPr lang="en-US" sz="1400" dirty="0">
                <a:cs typeface="Arial" panose="020B0604020202020204" pitchFamily="34" charset="0"/>
              </a:rPr>
              <a:t>    If your team does not yet have an account, click on the “</a:t>
            </a:r>
            <a:r>
              <a:rPr lang="en-US" sz="1400" b="1" dirty="0">
                <a:cs typeface="Arial" panose="020B0604020202020204" pitchFamily="34" charset="0"/>
              </a:rPr>
              <a:t>Sign up</a:t>
            </a:r>
            <a:r>
              <a:rPr lang="en-US" sz="1400" dirty="0">
                <a:cs typeface="Arial" panose="020B0604020202020204" pitchFamily="34" charset="0"/>
              </a:rPr>
              <a:t>" tab as shown in the image. </a:t>
            </a:r>
          </a:p>
          <a:p>
            <a:pPr marL="0" indent="0">
              <a:lnSpc>
                <a:spcPct val="100000"/>
              </a:lnSpc>
              <a:spcBef>
                <a:spcPts val="0"/>
              </a:spcBef>
              <a:buNone/>
            </a:pPr>
            <a:r>
              <a:rPr lang="en-US" sz="1400" dirty="0">
                <a:cs typeface="Arial" panose="020B0604020202020204" pitchFamily="34" charset="0"/>
              </a:rPr>
              <a:t>You will be directed to the account creation page where you must enter the following details:</a:t>
            </a:r>
            <a:endParaRPr lang="en-IN" sz="1400" dirty="0">
              <a:cs typeface="Arial" panose="020B0604020202020204" pitchFamily="34" charset="0"/>
            </a:endParaRPr>
          </a:p>
          <a:p>
            <a:pPr>
              <a:lnSpc>
                <a:spcPct val="100000"/>
              </a:lnSpc>
              <a:spcBef>
                <a:spcPts val="0"/>
              </a:spcBef>
            </a:pPr>
            <a:r>
              <a:rPr lang="en-US" sz="1400" b="1" dirty="0"/>
              <a:t>Username:</a:t>
            </a:r>
            <a:r>
              <a:rPr lang="en-US" sz="1400" dirty="0"/>
              <a:t> Use your Team Name</a:t>
            </a:r>
          </a:p>
          <a:p>
            <a:pPr>
              <a:lnSpc>
                <a:spcPct val="100000"/>
              </a:lnSpc>
              <a:spcBef>
                <a:spcPts val="0"/>
              </a:spcBef>
            </a:pPr>
            <a:r>
              <a:rPr lang="en-US" sz="1400" b="1" dirty="0"/>
              <a:t>Password: </a:t>
            </a:r>
            <a:r>
              <a:rPr lang="en-US" sz="1400" dirty="0"/>
              <a:t>Set a secure password for your team account</a:t>
            </a:r>
          </a:p>
          <a:p>
            <a:pPr>
              <a:lnSpc>
                <a:spcPct val="100000"/>
              </a:lnSpc>
              <a:spcBef>
                <a:spcPts val="0"/>
              </a:spcBef>
            </a:pPr>
            <a:r>
              <a:rPr lang="en-US" sz="1400" b="1" dirty="0"/>
              <a:t>Developer Password: </a:t>
            </a:r>
            <a:r>
              <a:rPr lang="en-US" sz="1400" dirty="0"/>
              <a:t>only Risk team member who maintain this app have access for developer, </a:t>
            </a:r>
          </a:p>
          <a:p>
            <a:pPr marL="0" indent="0">
              <a:lnSpc>
                <a:spcPct val="100000"/>
              </a:lnSpc>
              <a:spcBef>
                <a:spcPts val="0"/>
              </a:spcBef>
              <a:buNone/>
            </a:pPr>
            <a:r>
              <a:rPr lang="en-US" sz="1400" dirty="0"/>
              <a:t>     To create a new account contact the Risk team- Saroja </a:t>
            </a:r>
            <a:endParaRPr lang="en-IN" sz="1400" dirty="0"/>
          </a:p>
          <a:p>
            <a:pPr marL="0" indent="0">
              <a:lnSpc>
                <a:spcPct val="100000"/>
              </a:lnSpc>
              <a:spcBef>
                <a:spcPts val="600"/>
              </a:spcBef>
              <a:buNone/>
            </a:pPr>
            <a:r>
              <a:rPr lang="en-IN" sz="1400" b="1" dirty="0">
                <a:solidFill>
                  <a:srgbClr val="FF3300"/>
                </a:solidFill>
              </a:rPr>
              <a:t>Important Note:</a:t>
            </a:r>
          </a:p>
          <a:p>
            <a:pPr marL="0" indent="0">
              <a:lnSpc>
                <a:spcPct val="100000"/>
              </a:lnSpc>
              <a:spcBef>
                <a:spcPts val="600"/>
              </a:spcBef>
              <a:buNone/>
            </a:pPr>
            <a:r>
              <a:rPr lang="en-US" sz="1400" dirty="0"/>
              <a:t>Don’t create new account for individual users. Please create one account for one entire team.</a:t>
            </a:r>
            <a:br>
              <a:rPr lang="en-US" sz="1400" dirty="0"/>
            </a:br>
            <a:r>
              <a:rPr lang="en-US" sz="1400" dirty="0"/>
              <a:t>This is because </a:t>
            </a:r>
            <a:r>
              <a:rPr lang="en-US" sz="1400" b="1" dirty="0"/>
              <a:t>Google Vision OCR </a:t>
            </a:r>
            <a:r>
              <a:rPr lang="en-US" sz="1400" dirty="0"/>
              <a:t>usage costs for </a:t>
            </a:r>
            <a:r>
              <a:rPr lang="en-US" sz="1400" b="1" dirty="0"/>
              <a:t>Image PDF’s </a:t>
            </a:r>
            <a:r>
              <a:rPr lang="en-US" sz="1400" dirty="0"/>
              <a:t>are tracked and billed per team, </a:t>
            </a:r>
          </a:p>
          <a:p>
            <a:pPr marL="0" indent="0">
              <a:lnSpc>
                <a:spcPct val="100000"/>
              </a:lnSpc>
              <a:spcBef>
                <a:spcPts val="0"/>
              </a:spcBef>
              <a:buNone/>
            </a:pPr>
            <a:r>
              <a:rPr lang="en-US" sz="1400" dirty="0"/>
              <a:t>based on their usage.</a:t>
            </a:r>
            <a:endParaRPr lang="en-IN" sz="1400" dirty="0"/>
          </a:p>
        </p:txBody>
      </p:sp>
      <p:pic>
        <p:nvPicPr>
          <p:cNvPr id="12" name="Picture 11">
            <a:extLst>
              <a:ext uri="{FF2B5EF4-FFF2-40B4-BE49-F238E27FC236}">
                <a16:creationId xmlns:a16="http://schemas.microsoft.com/office/drawing/2014/main" id="{0743EC4E-51B7-4FCD-831F-8F8C690BE752}"/>
              </a:ext>
            </a:extLst>
          </p:cNvPr>
          <p:cNvPicPr/>
          <p:nvPr/>
        </p:nvPicPr>
        <p:blipFill>
          <a:blip r:embed="rId4"/>
          <a:stretch>
            <a:fillRect/>
          </a:stretch>
        </p:blipFill>
        <p:spPr>
          <a:xfrm>
            <a:off x="7590895" y="3215005"/>
            <a:ext cx="4181475" cy="3528695"/>
          </a:xfrm>
          <a:prstGeom prst="rect">
            <a:avLst/>
          </a:prstGeom>
        </p:spPr>
      </p:pic>
      <p:sp>
        <p:nvSpPr>
          <p:cNvPr id="11" name="Arrow: Down 10">
            <a:extLst>
              <a:ext uri="{FF2B5EF4-FFF2-40B4-BE49-F238E27FC236}">
                <a16:creationId xmlns:a16="http://schemas.microsoft.com/office/drawing/2014/main" id="{99D875FD-49F6-40A7-B7DF-9034661634AB}"/>
              </a:ext>
            </a:extLst>
          </p:cNvPr>
          <p:cNvSpPr/>
          <p:nvPr/>
        </p:nvSpPr>
        <p:spPr>
          <a:xfrm rot="7621124">
            <a:off x="8327179" y="3788947"/>
            <a:ext cx="198849"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13" name="Picture 12">
            <a:extLst>
              <a:ext uri="{FF2B5EF4-FFF2-40B4-BE49-F238E27FC236}">
                <a16:creationId xmlns:a16="http://schemas.microsoft.com/office/drawing/2014/main" id="{D827B190-3CE5-4FFD-AD15-90DE194E38F6}"/>
              </a:ext>
            </a:extLst>
          </p:cNvPr>
          <p:cNvPicPr>
            <a:picLocks noChangeAspect="1"/>
          </p:cNvPicPr>
          <p:nvPr/>
        </p:nvPicPr>
        <p:blipFill>
          <a:blip r:embed="rId5"/>
          <a:stretch>
            <a:fillRect/>
          </a:stretch>
        </p:blipFill>
        <p:spPr>
          <a:xfrm>
            <a:off x="7231416" y="616732"/>
            <a:ext cx="4788792" cy="2565424"/>
          </a:xfrm>
          <a:prstGeom prst="rect">
            <a:avLst/>
          </a:prstGeom>
        </p:spPr>
      </p:pic>
      <p:sp>
        <p:nvSpPr>
          <p:cNvPr id="14" name="Arrow: Down 13">
            <a:extLst>
              <a:ext uri="{FF2B5EF4-FFF2-40B4-BE49-F238E27FC236}">
                <a16:creationId xmlns:a16="http://schemas.microsoft.com/office/drawing/2014/main" id="{8CA4301C-B29D-440F-A386-11861D5D344D}"/>
              </a:ext>
            </a:extLst>
          </p:cNvPr>
          <p:cNvSpPr/>
          <p:nvPr/>
        </p:nvSpPr>
        <p:spPr>
          <a:xfrm rot="7621124">
            <a:off x="7668180" y="1268270"/>
            <a:ext cx="198849"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Tree>
    <p:extLst>
      <p:ext uri="{BB962C8B-B14F-4D97-AF65-F5344CB8AC3E}">
        <p14:creationId xmlns:p14="http://schemas.microsoft.com/office/powerpoint/2010/main" val="1302938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IN" sz="2400" b="1" dirty="0">
                <a:solidFill>
                  <a:schemeClr val="bg1"/>
                </a:solidFill>
                <a:latin typeface="+mn-lt"/>
                <a:ea typeface="+mn-ea"/>
                <a:cs typeface="+mn-cs"/>
              </a:rPr>
              <a:t>Generative AI Apps</a:t>
            </a: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92765" y="516836"/>
            <a:ext cx="12099235" cy="6262698"/>
          </a:xfrm>
        </p:spPr>
        <p:txBody>
          <a:bodyPr>
            <a:normAutofit/>
          </a:bodyPr>
          <a:lstStyle/>
          <a:p>
            <a:pPr marL="0" indent="0">
              <a:lnSpc>
                <a:spcPct val="100000"/>
              </a:lnSpc>
              <a:buNone/>
            </a:pPr>
            <a:r>
              <a:rPr lang="en-US" sz="1800" b="1" dirty="0">
                <a:solidFill>
                  <a:srgbClr val="FF0000"/>
                </a:solidFill>
                <a:latin typeface="source-serif-pro"/>
              </a:rPr>
              <a:t>Overview of Generative AI Applications</a:t>
            </a:r>
            <a:r>
              <a:rPr lang="en-US" sz="1800" dirty="0">
                <a:solidFill>
                  <a:srgbClr val="FF0000"/>
                </a:solidFill>
              </a:rPr>
              <a:t>: </a:t>
            </a:r>
            <a:endParaRPr lang="en-IN" sz="1800" dirty="0">
              <a:solidFill>
                <a:srgbClr val="FF0000"/>
              </a:solidFill>
            </a:endParaRPr>
          </a:p>
          <a:p>
            <a:pPr marL="0" indent="0" algn="just">
              <a:lnSpc>
                <a:spcPct val="100000"/>
              </a:lnSpc>
              <a:buNone/>
            </a:pPr>
            <a:r>
              <a:rPr lang="en-IN" sz="1100" dirty="0"/>
              <a:t> </a:t>
            </a:r>
            <a:r>
              <a:rPr lang="en-US" sz="1400" dirty="0"/>
              <a:t>Upon logging into the application, you will be directed to the home page. the home page features a menu bar on the left and an introduction to the Keyword Search and QA Chatbot applications. </a:t>
            </a:r>
          </a:p>
          <a:p>
            <a:pPr marL="0" indent="0" algn="just">
              <a:lnSpc>
                <a:spcPct val="100000"/>
              </a:lnSpc>
              <a:buNone/>
            </a:pPr>
            <a:r>
              <a:rPr lang="en-IN" sz="1600" b="1" dirty="0">
                <a:solidFill>
                  <a:srgbClr val="0070C0"/>
                </a:solidFill>
              </a:rPr>
              <a:t>Keyword Search App: </a:t>
            </a:r>
            <a:r>
              <a:rPr lang="en-IN" sz="1400" dirty="0"/>
              <a:t>Once you click the Keyword search App button, it will land you in the respective page, where you can upload the multiple scanned or normal PDF’s. based on the Keywords you are querying, the application will display relevant PDF file names and page numbers, highlight the queried keywords within the text for easy visibility.</a:t>
            </a:r>
          </a:p>
          <a:p>
            <a:pPr marL="0" indent="0" algn="just">
              <a:lnSpc>
                <a:spcPct val="100000"/>
              </a:lnSpc>
              <a:buNone/>
            </a:pPr>
            <a:r>
              <a:rPr lang="en-IN" sz="1600" b="1" dirty="0">
                <a:solidFill>
                  <a:srgbClr val="0070C0"/>
                </a:solidFill>
              </a:rPr>
              <a:t>QA Chatbot App: </a:t>
            </a:r>
            <a:r>
              <a:rPr lang="en-IN" sz="1400" dirty="0"/>
              <a:t>Once you click the Chatbot App button, will get you into the respective page Where you can upload the PDF’s and  you can chat with application by asking your query related to that PDF, It will give you the fine and precise answer based on question.</a:t>
            </a:r>
          </a:p>
        </p:txBody>
      </p:sp>
      <p:pic>
        <p:nvPicPr>
          <p:cNvPr id="6" name="Picture 5">
            <a:extLst>
              <a:ext uri="{FF2B5EF4-FFF2-40B4-BE49-F238E27FC236}">
                <a16:creationId xmlns:a16="http://schemas.microsoft.com/office/drawing/2014/main" id="{16FB613B-FA8F-444E-8A25-4E2EBBAD1265}"/>
              </a:ext>
            </a:extLst>
          </p:cNvPr>
          <p:cNvPicPr>
            <a:picLocks noChangeAspect="1"/>
          </p:cNvPicPr>
          <p:nvPr/>
        </p:nvPicPr>
        <p:blipFill>
          <a:blip r:embed="rId3"/>
          <a:stretch>
            <a:fillRect/>
          </a:stretch>
        </p:blipFill>
        <p:spPr>
          <a:xfrm>
            <a:off x="2244541" y="2882843"/>
            <a:ext cx="8295605" cy="3839541"/>
          </a:xfrm>
          <a:prstGeom prst="rect">
            <a:avLst/>
          </a:prstGeom>
        </p:spPr>
      </p:pic>
    </p:spTree>
    <p:extLst>
      <p:ext uri="{BB962C8B-B14F-4D97-AF65-F5344CB8AC3E}">
        <p14:creationId xmlns:p14="http://schemas.microsoft.com/office/powerpoint/2010/main" val="1832792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IN" sz="2400" b="1" dirty="0">
                <a:solidFill>
                  <a:schemeClr val="bg1"/>
                </a:solidFill>
                <a:latin typeface="+mn-lt"/>
                <a:ea typeface="+mn-ea"/>
                <a:cs typeface="+mn-cs"/>
              </a:rPr>
              <a:t>Keyword Search App</a:t>
            </a: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92765" y="516836"/>
            <a:ext cx="12099235" cy="6262698"/>
          </a:xfrm>
        </p:spPr>
        <p:txBody>
          <a:bodyPr>
            <a:normAutofit/>
          </a:bodyPr>
          <a:lstStyle/>
          <a:p>
            <a:pPr marL="0" indent="0">
              <a:lnSpc>
                <a:spcPct val="100000"/>
              </a:lnSpc>
              <a:buNone/>
            </a:pPr>
            <a:r>
              <a:rPr lang="en-US" sz="1600" b="1" dirty="0">
                <a:solidFill>
                  <a:srgbClr val="0070C0"/>
                </a:solidFill>
              </a:rPr>
              <a:t>Steps to follow :</a:t>
            </a:r>
            <a:endParaRPr lang="en-IN" sz="1600" b="1" dirty="0">
              <a:solidFill>
                <a:srgbClr val="FF0000"/>
              </a:solidFill>
            </a:endParaRPr>
          </a:p>
          <a:p>
            <a:pPr marL="0" indent="0">
              <a:lnSpc>
                <a:spcPct val="100000"/>
              </a:lnSpc>
              <a:buNone/>
            </a:pPr>
            <a:r>
              <a:rPr lang="en-IN" sz="1300" b="1" dirty="0">
                <a:solidFill>
                  <a:srgbClr val="FF0000"/>
                </a:solidFill>
              </a:rPr>
              <a:t>Step:1    </a:t>
            </a:r>
            <a:r>
              <a:rPr lang="en-US" sz="1300" dirty="0"/>
              <a:t>Upload the PDF’s you wish to keyword search by clicking the </a:t>
            </a:r>
            <a:r>
              <a:rPr lang="en-US" sz="1300" b="1" dirty="0">
                <a:solidFill>
                  <a:srgbClr val="7030A0"/>
                </a:solidFill>
              </a:rPr>
              <a:t>“Browse Files”</a:t>
            </a:r>
            <a:r>
              <a:rPr lang="en-US" sz="1300" dirty="0">
                <a:solidFill>
                  <a:srgbClr val="7030A0"/>
                </a:solidFill>
              </a:rPr>
              <a:t> </a:t>
            </a:r>
            <a:r>
              <a:rPr lang="en-US" sz="1300" dirty="0"/>
              <a:t>button on left side tab.</a:t>
            </a:r>
            <a:r>
              <a:rPr lang="en-IN" sz="1300" dirty="0"/>
              <a:t> </a:t>
            </a:r>
            <a:r>
              <a:rPr lang="en-US" sz="1300" dirty="0"/>
              <a:t>After selecting the files, click </a:t>
            </a:r>
            <a:r>
              <a:rPr lang="en-US" sz="1300" b="1" dirty="0">
                <a:solidFill>
                  <a:srgbClr val="7030A0"/>
                </a:solidFill>
              </a:rPr>
              <a:t>“Submit &amp; Process</a:t>
            </a:r>
            <a:r>
              <a:rPr lang="en-US" sz="1300" dirty="0"/>
              <a:t>” button</a:t>
            </a:r>
            <a:r>
              <a:rPr lang="en-US" sz="1300" b="1" dirty="0">
                <a:solidFill>
                  <a:srgbClr val="7030A0"/>
                </a:solidFill>
              </a:rPr>
              <a:t>.</a:t>
            </a:r>
            <a:endParaRPr lang="en-IN" sz="1300" b="1" dirty="0">
              <a:solidFill>
                <a:srgbClr val="7030A0"/>
              </a:solidFill>
            </a:endParaRPr>
          </a:p>
          <a:p>
            <a:pPr marL="0" indent="0">
              <a:lnSpc>
                <a:spcPct val="100000"/>
              </a:lnSpc>
              <a:spcBef>
                <a:spcPts val="600"/>
              </a:spcBef>
              <a:buNone/>
            </a:pPr>
            <a:r>
              <a:rPr lang="en-IN" sz="1300" dirty="0"/>
              <a:t>               (</a:t>
            </a:r>
            <a:r>
              <a:rPr lang="en-IN" sz="1300" dirty="0">
                <a:solidFill>
                  <a:srgbClr val="FF0000"/>
                </a:solidFill>
              </a:rPr>
              <a:t>Note: </a:t>
            </a:r>
            <a:r>
              <a:rPr lang="en-US" sz="1300" dirty="0"/>
              <a:t>Please upload only 10–20 PDFs at a time. The application is hosted on an on-premise server; uploading more may cause server issues.</a:t>
            </a:r>
            <a:r>
              <a:rPr lang="en-IN" sz="1300" dirty="0"/>
              <a:t>)</a:t>
            </a:r>
          </a:p>
          <a:p>
            <a:pPr marL="0" indent="0">
              <a:lnSpc>
                <a:spcPct val="100000"/>
              </a:lnSpc>
              <a:spcBef>
                <a:spcPts val="600"/>
              </a:spcBef>
              <a:buNone/>
            </a:pPr>
            <a:r>
              <a:rPr lang="en-IN" sz="1300" b="1" dirty="0">
                <a:solidFill>
                  <a:srgbClr val="FF0000"/>
                </a:solidFill>
              </a:rPr>
              <a:t>Step:2    </a:t>
            </a:r>
            <a:r>
              <a:rPr lang="en-IN" sz="1300" dirty="0"/>
              <a:t>Once file uploaded, </a:t>
            </a:r>
            <a:r>
              <a:rPr lang="en-US" sz="1300" b="1" dirty="0"/>
              <a:t>Google Vision OCR </a:t>
            </a:r>
            <a:r>
              <a:rPr lang="en-US" sz="1300" dirty="0"/>
              <a:t>is used to extract text from scanned PDF’s, </a:t>
            </a:r>
            <a:r>
              <a:rPr lang="en-US" sz="1300" b="1" dirty="0" err="1"/>
              <a:t>Langchain</a:t>
            </a:r>
            <a:r>
              <a:rPr lang="en-US" sz="1300" b="1" dirty="0"/>
              <a:t> </a:t>
            </a:r>
            <a:r>
              <a:rPr lang="en-US" sz="1300" b="1" dirty="0" err="1"/>
              <a:t>PyPDFLoader</a:t>
            </a:r>
            <a:r>
              <a:rPr lang="en-US" sz="1300" b="1" dirty="0"/>
              <a:t> </a:t>
            </a:r>
            <a:r>
              <a:rPr lang="en-US" sz="1300" dirty="0"/>
              <a:t>is used for normal (text-based) PDFs. Extracted content from image PDF’s is stored in </a:t>
            </a:r>
            <a:r>
              <a:rPr lang="en-US" sz="1300" b="1" dirty="0"/>
              <a:t>MongoDB</a:t>
            </a:r>
            <a:r>
              <a:rPr lang="en-US" sz="1300" dirty="0"/>
              <a:t>, acting as the application’s storage. Based on the number of files you have uploaded this step will take few mins to process, so wait patiently. </a:t>
            </a:r>
          </a:p>
          <a:p>
            <a:pPr marL="0" indent="0">
              <a:lnSpc>
                <a:spcPct val="100000"/>
              </a:lnSpc>
              <a:spcBef>
                <a:spcPts val="0"/>
              </a:spcBef>
              <a:buNone/>
            </a:pPr>
            <a:r>
              <a:rPr lang="en-US" sz="1300" b="1" dirty="0">
                <a:solidFill>
                  <a:srgbClr val="006600"/>
                </a:solidFill>
              </a:rPr>
              <a:t>“Files successfully loaded”</a:t>
            </a:r>
            <a:r>
              <a:rPr lang="en-US" sz="1300" dirty="0">
                <a:solidFill>
                  <a:srgbClr val="006600"/>
                </a:solidFill>
              </a:rPr>
              <a:t> </a:t>
            </a:r>
            <a:r>
              <a:rPr lang="en-US" sz="1300" dirty="0"/>
              <a:t>message will appear upon completion.</a:t>
            </a:r>
          </a:p>
          <a:p>
            <a:pPr marL="0" indent="0">
              <a:lnSpc>
                <a:spcPct val="100000"/>
              </a:lnSpc>
              <a:spcBef>
                <a:spcPts val="600"/>
              </a:spcBef>
              <a:buNone/>
            </a:pPr>
            <a:r>
              <a:rPr lang="en-US" sz="1300" dirty="0"/>
              <a:t>             </a:t>
            </a:r>
            <a:r>
              <a:rPr lang="en-IN" sz="1300" dirty="0"/>
              <a:t>  (</a:t>
            </a:r>
            <a:r>
              <a:rPr lang="en-IN" sz="1300" dirty="0">
                <a:solidFill>
                  <a:srgbClr val="FF0000"/>
                </a:solidFill>
              </a:rPr>
              <a:t>Note: </a:t>
            </a:r>
            <a:r>
              <a:rPr lang="en-IN" sz="1300" dirty="0"/>
              <a:t>If you are trying to upload the already processed files, It will not be processed.</a:t>
            </a:r>
            <a:r>
              <a:rPr lang="en-US" sz="1300" dirty="0"/>
              <a:t> App reuses the content from the existing storage to save OCR processing costs.</a:t>
            </a:r>
            <a:r>
              <a:rPr lang="en-IN" sz="1300" dirty="0"/>
              <a:t>)</a:t>
            </a:r>
          </a:p>
          <a:p>
            <a:pPr marL="0" indent="0">
              <a:lnSpc>
                <a:spcPct val="100000"/>
              </a:lnSpc>
              <a:buNone/>
            </a:pPr>
            <a:r>
              <a:rPr lang="en-IN" sz="1300" b="1" dirty="0">
                <a:solidFill>
                  <a:srgbClr val="FF0000"/>
                </a:solidFill>
              </a:rPr>
              <a:t>Step:3   </a:t>
            </a:r>
            <a:r>
              <a:rPr lang="en-US" sz="1300" dirty="0"/>
              <a:t>Enter your keyword in the textbox on the right side and press </a:t>
            </a:r>
            <a:r>
              <a:rPr lang="en-US" sz="1300" b="1" dirty="0">
                <a:solidFill>
                  <a:srgbClr val="7030A0"/>
                </a:solidFill>
              </a:rPr>
              <a:t>“Enter” </a:t>
            </a:r>
            <a:r>
              <a:rPr lang="en-US" sz="1300" dirty="0"/>
              <a:t>button.</a:t>
            </a:r>
          </a:p>
          <a:p>
            <a:pPr marL="0" indent="0">
              <a:lnSpc>
                <a:spcPct val="100000"/>
              </a:lnSpc>
              <a:buNone/>
            </a:pPr>
            <a:r>
              <a:rPr lang="en-IN" sz="1300" b="1" dirty="0">
                <a:solidFill>
                  <a:srgbClr val="FF0000"/>
                </a:solidFill>
              </a:rPr>
              <a:t>Step:4   </a:t>
            </a:r>
            <a:r>
              <a:rPr lang="en-IN" sz="1300" dirty="0"/>
              <a:t>Matching results of </a:t>
            </a:r>
            <a:r>
              <a:rPr lang="en-US" sz="1300" dirty="0"/>
              <a:t>Keywords found in the documents will be highlighted in yellow for easy visibility, </a:t>
            </a:r>
            <a:r>
              <a:rPr lang="en-IN" sz="1300" dirty="0"/>
              <a:t>the result will include the details of PDF file name and Page no, where the keyword appears, scroll down to see all the results.</a:t>
            </a:r>
          </a:p>
        </p:txBody>
      </p:sp>
      <p:pic>
        <p:nvPicPr>
          <p:cNvPr id="10" name="Picture 9">
            <a:extLst>
              <a:ext uri="{FF2B5EF4-FFF2-40B4-BE49-F238E27FC236}">
                <a16:creationId xmlns:a16="http://schemas.microsoft.com/office/drawing/2014/main" id="{850CB3CE-0834-4F5F-985B-0329EC40FA2E}"/>
              </a:ext>
            </a:extLst>
          </p:cNvPr>
          <p:cNvPicPr>
            <a:picLocks noChangeAspect="1"/>
          </p:cNvPicPr>
          <p:nvPr/>
        </p:nvPicPr>
        <p:blipFill>
          <a:blip r:embed="rId2"/>
          <a:stretch>
            <a:fillRect/>
          </a:stretch>
        </p:blipFill>
        <p:spPr>
          <a:xfrm>
            <a:off x="190498" y="3185444"/>
            <a:ext cx="5846847" cy="3073942"/>
          </a:xfrm>
          <a:prstGeom prst="rect">
            <a:avLst/>
          </a:prstGeom>
        </p:spPr>
      </p:pic>
      <p:sp>
        <p:nvSpPr>
          <p:cNvPr id="9" name="Arrow: Down 8">
            <a:extLst>
              <a:ext uri="{FF2B5EF4-FFF2-40B4-BE49-F238E27FC236}">
                <a16:creationId xmlns:a16="http://schemas.microsoft.com/office/drawing/2014/main" id="{AAE1556E-0ECE-4C17-9F18-21677BA7B29C}"/>
              </a:ext>
            </a:extLst>
          </p:cNvPr>
          <p:cNvSpPr/>
          <p:nvPr/>
        </p:nvSpPr>
        <p:spPr>
          <a:xfrm rot="7621124">
            <a:off x="1037810" y="5945545"/>
            <a:ext cx="198849"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13" name="Picture 12">
            <a:extLst>
              <a:ext uri="{FF2B5EF4-FFF2-40B4-BE49-F238E27FC236}">
                <a16:creationId xmlns:a16="http://schemas.microsoft.com/office/drawing/2014/main" id="{D701B7FD-B1EB-4DA3-914F-EECB24EA305E}"/>
              </a:ext>
            </a:extLst>
          </p:cNvPr>
          <p:cNvPicPr>
            <a:picLocks noChangeAspect="1"/>
          </p:cNvPicPr>
          <p:nvPr/>
        </p:nvPicPr>
        <p:blipFill>
          <a:blip r:embed="rId3"/>
          <a:stretch>
            <a:fillRect/>
          </a:stretch>
        </p:blipFill>
        <p:spPr>
          <a:xfrm>
            <a:off x="6299435" y="3170836"/>
            <a:ext cx="5702067" cy="3073942"/>
          </a:xfrm>
          <a:prstGeom prst="rect">
            <a:avLst/>
          </a:prstGeom>
        </p:spPr>
      </p:pic>
      <p:sp>
        <p:nvSpPr>
          <p:cNvPr id="12" name="Arrow: Down 11">
            <a:extLst>
              <a:ext uri="{FF2B5EF4-FFF2-40B4-BE49-F238E27FC236}">
                <a16:creationId xmlns:a16="http://schemas.microsoft.com/office/drawing/2014/main" id="{6B8D8F7E-2B44-4F57-BB9F-D41B36E9C5E7}"/>
              </a:ext>
            </a:extLst>
          </p:cNvPr>
          <p:cNvSpPr/>
          <p:nvPr/>
        </p:nvSpPr>
        <p:spPr>
          <a:xfrm rot="7621124">
            <a:off x="9015248" y="4386897"/>
            <a:ext cx="198849"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Tree>
    <p:extLst>
      <p:ext uri="{BB962C8B-B14F-4D97-AF65-F5344CB8AC3E}">
        <p14:creationId xmlns:p14="http://schemas.microsoft.com/office/powerpoint/2010/main" val="2659533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IN" sz="2400" b="1" dirty="0">
                <a:solidFill>
                  <a:schemeClr val="bg1"/>
                </a:solidFill>
                <a:latin typeface="+mn-lt"/>
                <a:ea typeface="+mn-ea"/>
                <a:cs typeface="+mn-cs"/>
              </a:rPr>
              <a:t>Keyword Search App – File Manager Features</a:t>
            </a: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92765" y="516836"/>
            <a:ext cx="12099235" cy="6262698"/>
          </a:xfrm>
        </p:spPr>
        <p:txBody>
          <a:bodyPr>
            <a:normAutofit/>
          </a:bodyPr>
          <a:lstStyle/>
          <a:p>
            <a:pPr marL="0" indent="0">
              <a:lnSpc>
                <a:spcPct val="100000"/>
              </a:lnSpc>
              <a:buNone/>
            </a:pPr>
            <a:r>
              <a:rPr lang="en-IN" sz="1600" b="1" dirty="0">
                <a:solidFill>
                  <a:srgbClr val="0070C0"/>
                </a:solidFill>
                <a:latin typeface="source-serif-pro"/>
              </a:rPr>
              <a:t>Accessing Uploaded PDF Files</a:t>
            </a:r>
            <a:r>
              <a:rPr lang="en-US" sz="1600" b="1" dirty="0">
                <a:solidFill>
                  <a:srgbClr val="0070C0"/>
                </a:solidFill>
                <a:latin typeface="source-serif-pro"/>
              </a:rPr>
              <a:t> :</a:t>
            </a:r>
          </a:p>
          <a:p>
            <a:pPr marL="0" indent="0">
              <a:lnSpc>
                <a:spcPct val="100000"/>
              </a:lnSpc>
              <a:buNone/>
            </a:pPr>
            <a:r>
              <a:rPr lang="en-US" sz="1400" dirty="0"/>
              <a:t>To view the list of previously uploaded and processed PDF files in the Keyword Search application:</a:t>
            </a:r>
            <a:endParaRPr lang="en-US" sz="1400" b="1" dirty="0">
              <a:solidFill>
                <a:srgbClr val="0070C0"/>
              </a:solidFill>
            </a:endParaRPr>
          </a:p>
          <a:p>
            <a:pPr marL="342900" indent="-342900">
              <a:lnSpc>
                <a:spcPct val="100000"/>
              </a:lnSpc>
              <a:buFont typeface="+mj-lt"/>
              <a:buAutoNum type="arabicPeriod"/>
            </a:pPr>
            <a:r>
              <a:rPr lang="en-US" sz="1400" dirty="0"/>
              <a:t>Click on the </a:t>
            </a:r>
            <a:r>
              <a:rPr lang="en-US" sz="1400" b="1" dirty="0">
                <a:solidFill>
                  <a:srgbClr val="FF3300"/>
                </a:solidFill>
              </a:rPr>
              <a:t>“PDF File Manager” </a:t>
            </a:r>
            <a:r>
              <a:rPr lang="en-US" sz="1400" dirty="0"/>
              <a:t>tab, as highlighted in the image. This will navigate you to the </a:t>
            </a:r>
            <a:r>
              <a:rPr lang="en-US" sz="1400" b="1" dirty="0"/>
              <a:t>File Manager</a:t>
            </a:r>
            <a:r>
              <a:rPr lang="en-US" sz="1400" dirty="0"/>
              <a:t> page.</a:t>
            </a:r>
          </a:p>
          <a:p>
            <a:pPr marL="342900" indent="-342900">
              <a:lnSpc>
                <a:spcPct val="100000"/>
              </a:lnSpc>
              <a:buFont typeface="+mj-lt"/>
              <a:buAutoNum type="arabicPeriod"/>
            </a:pPr>
            <a:r>
              <a:rPr lang="en-US" sz="1400" dirty="0"/>
              <a:t>On the File Manager page, click the </a:t>
            </a:r>
            <a:r>
              <a:rPr lang="en-US" sz="1300" b="1" dirty="0">
                <a:solidFill>
                  <a:srgbClr val="7030A0"/>
                </a:solidFill>
              </a:rPr>
              <a:t>“File List” </a:t>
            </a:r>
            <a:r>
              <a:rPr lang="en-US" sz="1400" dirty="0"/>
              <a:t>button to display the complete list of available files.</a:t>
            </a:r>
            <a:endParaRPr lang="en-US" sz="1400" b="1" dirty="0">
              <a:solidFill>
                <a:srgbClr val="0070C0"/>
              </a:solidFill>
            </a:endParaRPr>
          </a:p>
          <a:p>
            <a:pPr marL="0" indent="0">
              <a:lnSpc>
                <a:spcPct val="100000"/>
              </a:lnSpc>
              <a:buNone/>
            </a:pPr>
            <a:r>
              <a:rPr lang="en-US" sz="1000" dirty="0"/>
              <a:t>	</a:t>
            </a:r>
            <a:endParaRPr lang="en-IN" sz="1000" dirty="0"/>
          </a:p>
          <a:p>
            <a:pPr marL="0" indent="0">
              <a:lnSpc>
                <a:spcPct val="100000"/>
              </a:lnSpc>
              <a:buNone/>
            </a:pPr>
            <a:r>
              <a:rPr lang="en-IN" sz="1000" dirty="0"/>
              <a:t>    </a:t>
            </a:r>
            <a:r>
              <a:rPr lang="en-IN" sz="1300" dirty="0"/>
              <a:t> </a:t>
            </a: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p:txBody>
      </p:sp>
      <p:pic>
        <p:nvPicPr>
          <p:cNvPr id="9" name="Picture 8">
            <a:extLst>
              <a:ext uri="{FF2B5EF4-FFF2-40B4-BE49-F238E27FC236}">
                <a16:creationId xmlns:a16="http://schemas.microsoft.com/office/drawing/2014/main" id="{236B550F-D272-40A1-9535-5ADE6F81BFA9}"/>
              </a:ext>
            </a:extLst>
          </p:cNvPr>
          <p:cNvPicPr>
            <a:picLocks noChangeAspect="1"/>
          </p:cNvPicPr>
          <p:nvPr/>
        </p:nvPicPr>
        <p:blipFill>
          <a:blip r:embed="rId2"/>
          <a:stretch>
            <a:fillRect/>
          </a:stretch>
        </p:blipFill>
        <p:spPr>
          <a:xfrm>
            <a:off x="742721" y="2137145"/>
            <a:ext cx="10358670" cy="4389315"/>
          </a:xfrm>
          <a:prstGeom prst="rect">
            <a:avLst/>
          </a:prstGeom>
        </p:spPr>
      </p:pic>
      <p:sp>
        <p:nvSpPr>
          <p:cNvPr id="10" name="Arrow: Down 9">
            <a:extLst>
              <a:ext uri="{FF2B5EF4-FFF2-40B4-BE49-F238E27FC236}">
                <a16:creationId xmlns:a16="http://schemas.microsoft.com/office/drawing/2014/main" id="{6C294854-50D1-476E-BC41-8A371DE3C0DB}"/>
              </a:ext>
            </a:extLst>
          </p:cNvPr>
          <p:cNvSpPr/>
          <p:nvPr/>
        </p:nvSpPr>
        <p:spPr>
          <a:xfrm rot="7621124">
            <a:off x="4374053" y="4646897"/>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11" name="Arrow: Down 10">
            <a:extLst>
              <a:ext uri="{FF2B5EF4-FFF2-40B4-BE49-F238E27FC236}">
                <a16:creationId xmlns:a16="http://schemas.microsoft.com/office/drawing/2014/main" id="{1B33E989-D1F5-4CDD-96D5-F103FAEAF51F}"/>
              </a:ext>
            </a:extLst>
          </p:cNvPr>
          <p:cNvSpPr/>
          <p:nvPr/>
        </p:nvSpPr>
        <p:spPr>
          <a:xfrm rot="7621124">
            <a:off x="4828689" y="3430399"/>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Tree>
    <p:extLst>
      <p:ext uri="{BB962C8B-B14F-4D97-AF65-F5344CB8AC3E}">
        <p14:creationId xmlns:p14="http://schemas.microsoft.com/office/powerpoint/2010/main" val="3185966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IN" sz="2400" b="1" dirty="0">
                <a:solidFill>
                  <a:schemeClr val="bg1"/>
                </a:solidFill>
                <a:latin typeface="+mn-lt"/>
                <a:ea typeface="+mn-ea"/>
                <a:cs typeface="+mn-cs"/>
              </a:rPr>
              <a:t>Keyword Search App – File Manager Features</a:t>
            </a: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1" y="422910"/>
            <a:ext cx="12271512" cy="6435090"/>
          </a:xfrm>
        </p:spPr>
        <p:txBody>
          <a:bodyPr>
            <a:normAutofit/>
          </a:bodyPr>
          <a:lstStyle/>
          <a:p>
            <a:pPr marL="0" indent="0">
              <a:lnSpc>
                <a:spcPct val="100000"/>
              </a:lnSpc>
              <a:buNone/>
            </a:pPr>
            <a:r>
              <a:rPr lang="en-US" sz="1600" b="1" dirty="0">
                <a:solidFill>
                  <a:srgbClr val="0070C0"/>
                </a:solidFill>
              </a:rPr>
              <a:t>Deleting a Specific PDF File :</a:t>
            </a:r>
          </a:p>
          <a:p>
            <a:pPr marL="0" indent="0">
              <a:lnSpc>
                <a:spcPct val="100000"/>
              </a:lnSpc>
              <a:buNone/>
            </a:pPr>
            <a:r>
              <a:rPr lang="en-US" sz="1400" dirty="0"/>
              <a:t>If you have accidentally uploaded a PDF or no longer require a particular file, you can remove its content from the MongoDB storage: </a:t>
            </a:r>
          </a:p>
          <a:p>
            <a:pPr marL="342900" indent="-342900">
              <a:lnSpc>
                <a:spcPct val="100000"/>
              </a:lnSpc>
              <a:buFont typeface="+mj-lt"/>
              <a:buAutoNum type="arabicPeriod"/>
            </a:pPr>
            <a:r>
              <a:rPr lang="en-US" sz="1400" dirty="0"/>
              <a:t>Click on the </a:t>
            </a:r>
            <a:r>
              <a:rPr lang="en-US" sz="1400" b="1" dirty="0">
                <a:solidFill>
                  <a:srgbClr val="FF3300"/>
                </a:solidFill>
              </a:rPr>
              <a:t>“PDF File Manager” </a:t>
            </a:r>
            <a:r>
              <a:rPr lang="en-US" sz="1400" dirty="0"/>
              <a:t>tab, to navigate you to the </a:t>
            </a:r>
            <a:r>
              <a:rPr lang="en-US" sz="1400" b="1" dirty="0"/>
              <a:t>File Manager</a:t>
            </a:r>
            <a:r>
              <a:rPr lang="en-US" sz="1400" dirty="0"/>
              <a:t> page.</a:t>
            </a:r>
          </a:p>
          <a:p>
            <a:pPr marL="342900" indent="-342900">
              <a:lnSpc>
                <a:spcPct val="100000"/>
              </a:lnSpc>
              <a:buFont typeface="+mj-lt"/>
              <a:buAutoNum type="arabicPeriod"/>
            </a:pPr>
            <a:r>
              <a:rPr lang="en-US" sz="1400" dirty="0"/>
              <a:t>In the </a:t>
            </a:r>
            <a:r>
              <a:rPr lang="en-US" sz="1400" b="1" dirty="0">
                <a:solidFill>
                  <a:srgbClr val="FF3300"/>
                </a:solidFill>
              </a:rPr>
              <a:t>“Delete a Specific PDF files” </a:t>
            </a:r>
            <a:r>
              <a:rPr lang="en-US" sz="1400" dirty="0"/>
              <a:t>section, Enter the PDF file name in the provide </a:t>
            </a:r>
          </a:p>
          <a:p>
            <a:pPr marL="0" indent="0">
              <a:lnSpc>
                <a:spcPct val="100000"/>
              </a:lnSpc>
              <a:buNone/>
            </a:pPr>
            <a:r>
              <a:rPr lang="en-US" sz="1400" dirty="0"/>
              <a:t>text box. then click the </a:t>
            </a:r>
            <a:r>
              <a:rPr lang="en-US" sz="1400" b="1" dirty="0">
                <a:solidFill>
                  <a:srgbClr val="7030A0"/>
                </a:solidFill>
              </a:rPr>
              <a:t>“Delete File” </a:t>
            </a:r>
            <a:r>
              <a:rPr lang="en-US" sz="1400" dirty="0"/>
              <a:t>button to permanently delete the associated content </a:t>
            </a:r>
          </a:p>
          <a:p>
            <a:pPr marL="0" indent="0">
              <a:lnSpc>
                <a:spcPct val="100000"/>
              </a:lnSpc>
              <a:buNone/>
            </a:pPr>
            <a:r>
              <a:rPr lang="en-US" sz="1400" dirty="0"/>
              <a:t>from MongoDB storage.</a:t>
            </a:r>
            <a:endParaRPr lang="en-IN" sz="1000" dirty="0"/>
          </a:p>
          <a:p>
            <a:pPr marL="0" indent="0">
              <a:lnSpc>
                <a:spcPct val="100000"/>
              </a:lnSpc>
              <a:buNone/>
            </a:pPr>
            <a:r>
              <a:rPr lang="en-IN" sz="1000" dirty="0"/>
              <a:t>    </a:t>
            </a:r>
            <a:r>
              <a:rPr lang="en-IN" sz="1300" dirty="0"/>
              <a:t> </a:t>
            </a: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r>
              <a:rPr lang="en-US" sz="1600" b="1" dirty="0">
                <a:solidFill>
                  <a:srgbClr val="0070C0"/>
                </a:solidFill>
              </a:rPr>
              <a:t>Deleting All PDF Files from Storage:</a:t>
            </a:r>
          </a:p>
          <a:p>
            <a:pPr marL="0" indent="0">
              <a:lnSpc>
                <a:spcPct val="100000"/>
              </a:lnSpc>
              <a:buNone/>
            </a:pPr>
            <a:r>
              <a:rPr lang="en-US" sz="1400" dirty="0"/>
              <a:t>If the extracted information from all Image PDF files is no longer required, you can delete the entire dataset to </a:t>
            </a:r>
            <a:r>
              <a:rPr lang="en-US" sz="1400" b="1" dirty="0"/>
              <a:t>free up MongoDB storage</a:t>
            </a:r>
            <a:r>
              <a:rPr lang="en-US" sz="1400" dirty="0"/>
              <a:t> and </a:t>
            </a:r>
            <a:r>
              <a:rPr lang="en-US" sz="1400" b="1" dirty="0"/>
              <a:t>enhance future search performance</a:t>
            </a:r>
            <a:r>
              <a:rPr lang="en-US" sz="1400" dirty="0"/>
              <a:t>.</a:t>
            </a:r>
          </a:p>
          <a:p>
            <a:pPr marL="342900" indent="-342900">
              <a:lnSpc>
                <a:spcPct val="100000"/>
              </a:lnSpc>
              <a:buFont typeface="+mj-lt"/>
              <a:buAutoNum type="arabicPeriod"/>
            </a:pPr>
            <a:r>
              <a:rPr lang="en-US" sz="1400" dirty="0"/>
              <a:t>Click on the </a:t>
            </a:r>
            <a:r>
              <a:rPr lang="en-US" sz="1400" b="1" dirty="0">
                <a:solidFill>
                  <a:srgbClr val="FF3300"/>
                </a:solidFill>
              </a:rPr>
              <a:t>“PDF File Manager” </a:t>
            </a:r>
            <a:r>
              <a:rPr lang="en-US" sz="1400" dirty="0"/>
              <a:t>tab, to navigate you to the </a:t>
            </a:r>
            <a:r>
              <a:rPr lang="en-US" sz="1400" b="1" dirty="0"/>
              <a:t>File Manager </a:t>
            </a:r>
            <a:r>
              <a:rPr lang="en-US" sz="1400" dirty="0"/>
              <a:t>page.</a:t>
            </a:r>
          </a:p>
          <a:p>
            <a:pPr marL="342900" indent="-342900">
              <a:lnSpc>
                <a:spcPct val="100000"/>
              </a:lnSpc>
              <a:buFont typeface="+mj-lt"/>
              <a:buAutoNum type="arabicPeriod"/>
            </a:pPr>
            <a:r>
              <a:rPr lang="en-US" sz="1400" dirty="0"/>
              <a:t>In the </a:t>
            </a:r>
            <a:r>
              <a:rPr lang="en-US" sz="1400" b="1" dirty="0">
                <a:solidFill>
                  <a:srgbClr val="FF0000"/>
                </a:solidFill>
              </a:rPr>
              <a:t>“Delete All PDF files” </a:t>
            </a:r>
            <a:r>
              <a:rPr lang="en-US" sz="1400" dirty="0"/>
              <a:t>section, click the </a:t>
            </a:r>
            <a:r>
              <a:rPr lang="en-US" sz="1400" b="1" dirty="0">
                <a:solidFill>
                  <a:srgbClr val="7030A0"/>
                </a:solidFill>
              </a:rPr>
              <a:t>“Delete All Files” </a:t>
            </a:r>
            <a:r>
              <a:rPr lang="en-US" sz="1400" dirty="0"/>
              <a:t>button. </a:t>
            </a:r>
          </a:p>
          <a:p>
            <a:pPr marL="342900" indent="-342900">
              <a:lnSpc>
                <a:spcPct val="100000"/>
              </a:lnSpc>
              <a:buFont typeface="+mj-lt"/>
              <a:buAutoNum type="arabicPeriod"/>
            </a:pPr>
            <a:r>
              <a:rPr lang="en-US" sz="1400" dirty="0"/>
              <a:t>When prompted, enter the </a:t>
            </a:r>
            <a:r>
              <a:rPr lang="en-US" sz="1400" b="1" dirty="0">
                <a:solidFill>
                  <a:srgbClr val="00CC00"/>
                </a:solidFill>
              </a:rPr>
              <a:t>Admin Password </a:t>
            </a:r>
            <a:r>
              <a:rPr lang="en-US" sz="1400" dirty="0"/>
              <a:t>in the provided text box to authorize </a:t>
            </a:r>
          </a:p>
          <a:p>
            <a:pPr marL="0" indent="0">
              <a:lnSpc>
                <a:spcPct val="100000"/>
              </a:lnSpc>
              <a:buNone/>
            </a:pPr>
            <a:r>
              <a:rPr lang="en-US" sz="1400" dirty="0"/>
              <a:t>the deletion. For Admin password ask Risk team member who maintains this app.</a:t>
            </a:r>
          </a:p>
          <a:p>
            <a:pPr marL="342900" indent="-342900">
              <a:lnSpc>
                <a:spcPct val="100000"/>
              </a:lnSpc>
              <a:buAutoNum type="arabicPeriod" startAt="4"/>
            </a:pPr>
            <a:r>
              <a:rPr lang="en-IN" sz="1400" dirty="0"/>
              <a:t>Click the </a:t>
            </a:r>
            <a:r>
              <a:rPr lang="en-IN" sz="1400" b="1" dirty="0">
                <a:solidFill>
                  <a:srgbClr val="7030A0"/>
                </a:solidFill>
              </a:rPr>
              <a:t>“Confirm Deletion” </a:t>
            </a:r>
            <a:r>
              <a:rPr lang="en-IN" sz="1400" dirty="0"/>
              <a:t>button </a:t>
            </a:r>
            <a:r>
              <a:rPr lang="en-US" sz="1400" dirty="0"/>
              <a:t>to permanently remove all content from storage.</a:t>
            </a:r>
            <a:endParaRPr lang="en-US" sz="1400" dirty="0">
              <a:solidFill>
                <a:srgbClr val="FF0000"/>
              </a:solidFill>
            </a:endParaRPr>
          </a:p>
          <a:p>
            <a:pPr marL="0" indent="0">
              <a:lnSpc>
                <a:spcPct val="100000"/>
              </a:lnSpc>
              <a:buNone/>
            </a:pPr>
            <a:r>
              <a:rPr lang="en-IN" sz="1050" dirty="0"/>
              <a:t>⚠️  </a:t>
            </a:r>
            <a:r>
              <a:rPr lang="en-US" sz="1400" b="1" dirty="0">
                <a:solidFill>
                  <a:srgbClr val="FF0000"/>
                </a:solidFill>
              </a:rPr>
              <a:t>Note:</a:t>
            </a:r>
            <a:r>
              <a:rPr lang="en-US" sz="1400" dirty="0"/>
              <a:t> This action is irreversible.</a:t>
            </a:r>
            <a:endParaRPr lang="en-IN" sz="1400" dirty="0"/>
          </a:p>
        </p:txBody>
      </p:sp>
      <p:pic>
        <p:nvPicPr>
          <p:cNvPr id="10" name="Picture 9">
            <a:extLst>
              <a:ext uri="{FF2B5EF4-FFF2-40B4-BE49-F238E27FC236}">
                <a16:creationId xmlns:a16="http://schemas.microsoft.com/office/drawing/2014/main" id="{D99D5F5C-C4F3-4F58-95F9-BB454DC0D685}"/>
              </a:ext>
            </a:extLst>
          </p:cNvPr>
          <p:cNvPicPr>
            <a:picLocks noChangeAspect="1"/>
          </p:cNvPicPr>
          <p:nvPr/>
        </p:nvPicPr>
        <p:blipFill>
          <a:blip r:embed="rId2"/>
          <a:stretch>
            <a:fillRect/>
          </a:stretch>
        </p:blipFill>
        <p:spPr>
          <a:xfrm>
            <a:off x="6691031" y="1156521"/>
            <a:ext cx="5471634" cy="2427556"/>
          </a:xfrm>
          <a:prstGeom prst="rect">
            <a:avLst/>
          </a:prstGeom>
        </p:spPr>
      </p:pic>
      <p:pic>
        <p:nvPicPr>
          <p:cNvPr id="11" name="Picture 10">
            <a:extLst>
              <a:ext uri="{FF2B5EF4-FFF2-40B4-BE49-F238E27FC236}">
                <a16:creationId xmlns:a16="http://schemas.microsoft.com/office/drawing/2014/main" id="{0593A0DA-B4BF-4CCF-B8A0-0ABF8D9BAEBA}"/>
              </a:ext>
            </a:extLst>
          </p:cNvPr>
          <p:cNvPicPr>
            <a:picLocks noChangeAspect="1"/>
          </p:cNvPicPr>
          <p:nvPr/>
        </p:nvPicPr>
        <p:blipFill>
          <a:blip r:embed="rId3"/>
          <a:stretch>
            <a:fillRect/>
          </a:stretch>
        </p:blipFill>
        <p:spPr>
          <a:xfrm>
            <a:off x="6691031" y="4101102"/>
            <a:ext cx="5471634" cy="2333988"/>
          </a:xfrm>
          <a:prstGeom prst="rect">
            <a:avLst/>
          </a:prstGeom>
        </p:spPr>
      </p:pic>
      <p:sp>
        <p:nvSpPr>
          <p:cNvPr id="12" name="Arrow: Down 11">
            <a:extLst>
              <a:ext uri="{FF2B5EF4-FFF2-40B4-BE49-F238E27FC236}">
                <a16:creationId xmlns:a16="http://schemas.microsoft.com/office/drawing/2014/main" id="{AEC2ADA3-310F-4F7D-A0EB-14B52E462462}"/>
              </a:ext>
            </a:extLst>
          </p:cNvPr>
          <p:cNvSpPr/>
          <p:nvPr/>
        </p:nvSpPr>
        <p:spPr>
          <a:xfrm rot="7621124">
            <a:off x="9229444" y="4969627"/>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9" name="Arrow: Down 8">
            <a:extLst>
              <a:ext uri="{FF2B5EF4-FFF2-40B4-BE49-F238E27FC236}">
                <a16:creationId xmlns:a16="http://schemas.microsoft.com/office/drawing/2014/main" id="{C2853CB4-946F-40E9-B0F9-4C3B08BEAA19}"/>
              </a:ext>
            </a:extLst>
          </p:cNvPr>
          <p:cNvSpPr/>
          <p:nvPr/>
        </p:nvSpPr>
        <p:spPr>
          <a:xfrm rot="7621124">
            <a:off x="9181557" y="2195585"/>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14" name="Arrow: Down 13">
            <a:extLst>
              <a:ext uri="{FF2B5EF4-FFF2-40B4-BE49-F238E27FC236}">
                <a16:creationId xmlns:a16="http://schemas.microsoft.com/office/drawing/2014/main" id="{2939C088-2C8E-4CC8-B25A-B24606850C5A}"/>
              </a:ext>
            </a:extLst>
          </p:cNvPr>
          <p:cNvSpPr/>
          <p:nvPr/>
        </p:nvSpPr>
        <p:spPr>
          <a:xfrm rot="7621124">
            <a:off x="9323229" y="5615330"/>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Tree>
    <p:extLst>
      <p:ext uri="{BB962C8B-B14F-4D97-AF65-F5344CB8AC3E}">
        <p14:creationId xmlns:p14="http://schemas.microsoft.com/office/powerpoint/2010/main" val="203419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IN" sz="2400" b="1" dirty="0">
                <a:solidFill>
                  <a:schemeClr val="bg1"/>
                </a:solidFill>
                <a:latin typeface="+mn-lt"/>
                <a:ea typeface="+mn-ea"/>
                <a:cs typeface="+mn-cs"/>
              </a:rPr>
              <a:t>QA Chatbot App</a:t>
            </a: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1" y="445770"/>
            <a:ext cx="12271512" cy="6333764"/>
          </a:xfrm>
        </p:spPr>
        <p:txBody>
          <a:bodyPr>
            <a:normAutofit/>
          </a:bodyPr>
          <a:lstStyle/>
          <a:p>
            <a:pPr marL="0" indent="0">
              <a:lnSpc>
                <a:spcPct val="100000"/>
              </a:lnSpc>
              <a:buNone/>
            </a:pPr>
            <a:r>
              <a:rPr lang="en-US" sz="1600" b="1" dirty="0">
                <a:solidFill>
                  <a:srgbClr val="0070C0"/>
                </a:solidFill>
                <a:latin typeface="source-serif-pro"/>
              </a:rPr>
              <a:t>Steps to follow :</a:t>
            </a:r>
            <a:endParaRPr lang="en-IN" sz="1600" dirty="0">
              <a:solidFill>
                <a:srgbClr val="FF0000"/>
              </a:solidFill>
            </a:endParaRPr>
          </a:p>
          <a:p>
            <a:pPr marL="0" indent="0">
              <a:lnSpc>
                <a:spcPct val="100000"/>
              </a:lnSpc>
              <a:spcBef>
                <a:spcPts val="600"/>
              </a:spcBef>
              <a:buNone/>
            </a:pPr>
            <a:r>
              <a:rPr lang="en-IN" sz="1400" b="1" dirty="0">
                <a:solidFill>
                  <a:srgbClr val="FF0000"/>
                </a:solidFill>
              </a:rPr>
              <a:t>Step:1 </a:t>
            </a:r>
            <a:r>
              <a:rPr lang="en-US" sz="1400" b="1" dirty="0">
                <a:solidFill>
                  <a:srgbClr val="FF0000"/>
                </a:solidFill>
              </a:rPr>
              <a:t>   </a:t>
            </a:r>
            <a:r>
              <a:rPr lang="en-US" sz="1400" dirty="0"/>
              <a:t>Click the </a:t>
            </a:r>
            <a:r>
              <a:rPr lang="en-US" sz="1400" b="1" dirty="0">
                <a:solidFill>
                  <a:srgbClr val="FF0000"/>
                </a:solidFill>
              </a:rPr>
              <a:t>“Browse Files” </a:t>
            </a:r>
            <a:r>
              <a:rPr lang="en-US" sz="1400" dirty="0"/>
              <a:t>button to upload the PDFs you want to use for question answering.</a:t>
            </a:r>
            <a:r>
              <a:rPr lang="en-IN" sz="1400" dirty="0"/>
              <a:t> </a:t>
            </a:r>
            <a:r>
              <a:rPr lang="en-US" sz="1400" dirty="0"/>
              <a:t>After selecting the files, click</a:t>
            </a:r>
            <a:r>
              <a:rPr lang="en-US" sz="1400" b="1" dirty="0">
                <a:solidFill>
                  <a:srgbClr val="7030A0"/>
                </a:solidFill>
              </a:rPr>
              <a:t> “Submit &amp; Process” </a:t>
            </a:r>
            <a:r>
              <a:rPr lang="en-US" sz="1400" dirty="0"/>
              <a:t>to begin</a:t>
            </a:r>
            <a:r>
              <a:rPr lang="en-US" sz="1400" dirty="0">
                <a:solidFill>
                  <a:srgbClr val="FF0000"/>
                </a:solidFill>
              </a:rPr>
              <a:t>.</a:t>
            </a:r>
            <a:endParaRPr lang="en-IN" sz="1400" dirty="0">
              <a:solidFill>
                <a:srgbClr val="FF0000"/>
              </a:solidFill>
            </a:endParaRPr>
          </a:p>
          <a:p>
            <a:pPr marL="0" indent="0">
              <a:lnSpc>
                <a:spcPct val="100000"/>
              </a:lnSpc>
              <a:spcBef>
                <a:spcPts val="600"/>
              </a:spcBef>
              <a:buNone/>
            </a:pPr>
            <a:r>
              <a:rPr lang="en-IN" sz="1400" b="1" dirty="0">
                <a:solidFill>
                  <a:srgbClr val="FF0000"/>
                </a:solidFill>
              </a:rPr>
              <a:t>Step:2    </a:t>
            </a:r>
            <a:r>
              <a:rPr lang="en-IN" sz="1400" dirty="0"/>
              <a:t>Once uploaded, </a:t>
            </a:r>
            <a:r>
              <a:rPr lang="en-US" sz="1400" b="1" dirty="0"/>
              <a:t>Google Vision OCR </a:t>
            </a:r>
            <a:r>
              <a:rPr lang="en-US" sz="1400" dirty="0"/>
              <a:t>is used to extract text from scanned PDFs</a:t>
            </a:r>
            <a:r>
              <a:rPr lang="en-US" sz="1400" b="1" dirty="0"/>
              <a:t>, </a:t>
            </a:r>
            <a:r>
              <a:rPr lang="en-US" sz="1400" b="1" dirty="0" err="1"/>
              <a:t>Langchain</a:t>
            </a:r>
            <a:r>
              <a:rPr lang="en-US" sz="1400" b="1" dirty="0"/>
              <a:t> </a:t>
            </a:r>
            <a:r>
              <a:rPr lang="en-US" sz="1400" b="1" dirty="0" err="1"/>
              <a:t>PyPDF</a:t>
            </a:r>
            <a:r>
              <a:rPr lang="en-US" sz="1400" b="1" dirty="0"/>
              <a:t> Loader </a:t>
            </a:r>
            <a:r>
              <a:rPr lang="en-US" sz="1400" dirty="0"/>
              <a:t>is used for normal (text-based) PDFs. Extracted content is split into multiple chunks and stored as embeddings in </a:t>
            </a:r>
            <a:r>
              <a:rPr lang="en-US" sz="1400" b="1" dirty="0"/>
              <a:t>a FAISS vector database</a:t>
            </a:r>
            <a:r>
              <a:rPr lang="en-US" sz="1400" dirty="0"/>
              <a:t>. which act as the application’s storage</a:t>
            </a:r>
            <a:r>
              <a:rPr lang="en-US" sz="1400" dirty="0">
                <a:solidFill>
                  <a:srgbClr val="00CC00"/>
                </a:solidFill>
              </a:rPr>
              <a:t>.</a:t>
            </a:r>
            <a:r>
              <a:rPr lang="en-US" sz="1400" b="1" dirty="0">
                <a:solidFill>
                  <a:srgbClr val="00CC00"/>
                </a:solidFill>
              </a:rPr>
              <a:t> “Files successfully loaded” </a:t>
            </a:r>
            <a:r>
              <a:rPr lang="en-US" sz="1400" dirty="0"/>
              <a:t>message will confirm the upload and processing is complete.</a:t>
            </a:r>
          </a:p>
          <a:p>
            <a:pPr marL="0" indent="0">
              <a:lnSpc>
                <a:spcPct val="100000"/>
              </a:lnSpc>
              <a:spcBef>
                <a:spcPts val="600"/>
              </a:spcBef>
              <a:buNone/>
            </a:pPr>
            <a:r>
              <a:rPr lang="en-IN" sz="1400" b="1" dirty="0">
                <a:solidFill>
                  <a:srgbClr val="FF0000"/>
                </a:solidFill>
              </a:rPr>
              <a:t>Step:3 </a:t>
            </a:r>
            <a:r>
              <a:rPr lang="en-US" sz="1400" b="1" dirty="0">
                <a:solidFill>
                  <a:srgbClr val="FF0000"/>
                </a:solidFill>
              </a:rPr>
              <a:t>   </a:t>
            </a:r>
            <a:r>
              <a:rPr lang="en-US" sz="1400" dirty="0"/>
              <a:t>Enter your question you want to ask in the textbox on the right side and press the </a:t>
            </a:r>
            <a:r>
              <a:rPr lang="en-US" sz="1400" b="1" dirty="0">
                <a:solidFill>
                  <a:srgbClr val="FF0000"/>
                </a:solidFill>
              </a:rPr>
              <a:t>“Enter” </a:t>
            </a:r>
            <a:r>
              <a:rPr lang="en-US" sz="1400" dirty="0"/>
              <a:t>key to submit your query.</a:t>
            </a:r>
          </a:p>
          <a:p>
            <a:pPr marL="0" indent="0">
              <a:lnSpc>
                <a:spcPct val="100000"/>
              </a:lnSpc>
              <a:spcBef>
                <a:spcPts val="600"/>
              </a:spcBef>
              <a:buNone/>
            </a:pPr>
            <a:r>
              <a:rPr lang="en-IN" sz="1400" b="1" dirty="0">
                <a:solidFill>
                  <a:srgbClr val="FF0000"/>
                </a:solidFill>
              </a:rPr>
              <a:t>Step:4    </a:t>
            </a:r>
            <a:r>
              <a:rPr lang="en-IN" sz="1400" dirty="0"/>
              <a:t>Choose an appropriate </a:t>
            </a:r>
            <a:r>
              <a:rPr lang="en-IN" sz="1400" b="1" dirty="0"/>
              <a:t>Semantic score </a:t>
            </a:r>
            <a:r>
              <a:rPr lang="en-IN" sz="1400" dirty="0"/>
              <a:t>to do </a:t>
            </a:r>
            <a:r>
              <a:rPr lang="en-IN" sz="1400" b="1" dirty="0"/>
              <a:t>Contextual search</a:t>
            </a:r>
            <a:r>
              <a:rPr lang="en-IN" sz="1400" dirty="0"/>
              <a:t>, higher the score prioritize the Contextual search, lower the score for Keyword based search.</a:t>
            </a:r>
            <a:endParaRPr lang="en-US" sz="1400" dirty="0"/>
          </a:p>
          <a:p>
            <a:pPr marL="0" indent="0">
              <a:lnSpc>
                <a:spcPct val="100000"/>
              </a:lnSpc>
              <a:spcBef>
                <a:spcPts val="600"/>
              </a:spcBef>
              <a:buNone/>
            </a:pPr>
            <a:r>
              <a:rPr lang="en-IN" sz="1400" b="1" dirty="0">
                <a:solidFill>
                  <a:srgbClr val="FF0000"/>
                </a:solidFill>
              </a:rPr>
              <a:t>Step:5    </a:t>
            </a:r>
            <a:r>
              <a:rPr lang="en-US" sz="1400" dirty="0"/>
              <a:t>Question will be converted into embeddings and similarity search is performed in the vector database to retrieve relevant content. Reranked retrieved contexts are passed to the LLM to generate a precise and fine results.</a:t>
            </a:r>
          </a:p>
          <a:p>
            <a:pPr marL="0" indent="0">
              <a:lnSpc>
                <a:spcPct val="100000"/>
              </a:lnSpc>
              <a:spcBef>
                <a:spcPts val="600"/>
              </a:spcBef>
              <a:buNone/>
            </a:pPr>
            <a:r>
              <a:rPr lang="en-IN" sz="1400" b="1" dirty="0">
                <a:solidFill>
                  <a:srgbClr val="FF0000"/>
                </a:solidFill>
              </a:rPr>
              <a:t>Step:6 </a:t>
            </a:r>
            <a:r>
              <a:rPr lang="en-US" sz="1400" b="1" dirty="0">
                <a:solidFill>
                  <a:srgbClr val="FF0000"/>
                </a:solidFill>
              </a:rPr>
              <a:t>  </a:t>
            </a:r>
            <a:r>
              <a:rPr lang="en-IN" sz="1400" dirty="0"/>
              <a:t>To see the source PDF files used to answer your question, click the button </a:t>
            </a:r>
            <a:r>
              <a:rPr lang="en-IN" sz="1400" b="1" dirty="0">
                <a:solidFill>
                  <a:srgbClr val="00CC00"/>
                </a:solidFill>
              </a:rPr>
              <a:t>“Similar results of your Query with Source Documents”. </a:t>
            </a:r>
            <a:r>
              <a:rPr lang="en-IN" sz="1400" dirty="0"/>
              <a:t>the result will include the details of PDF file name and Page no, where the relevant content appears. </a:t>
            </a:r>
            <a:r>
              <a:rPr lang="en-US" sz="1400" dirty="0"/>
              <a:t>The matched keywords will be highlighted in yellow for easy identification</a:t>
            </a:r>
            <a:r>
              <a:rPr lang="en-IN" sz="1400" dirty="0"/>
              <a:t> yellow in colour, scroll down to see all the results.</a:t>
            </a:r>
          </a:p>
        </p:txBody>
      </p:sp>
      <p:pic>
        <p:nvPicPr>
          <p:cNvPr id="12" name="Picture 11">
            <a:extLst>
              <a:ext uri="{FF2B5EF4-FFF2-40B4-BE49-F238E27FC236}">
                <a16:creationId xmlns:a16="http://schemas.microsoft.com/office/drawing/2014/main" id="{DE0F0DC1-368C-40E5-9666-3AE32D1C2A01}"/>
              </a:ext>
            </a:extLst>
          </p:cNvPr>
          <p:cNvPicPr>
            <a:picLocks noChangeAspect="1"/>
          </p:cNvPicPr>
          <p:nvPr/>
        </p:nvPicPr>
        <p:blipFill>
          <a:blip r:embed="rId2"/>
          <a:stretch>
            <a:fillRect/>
          </a:stretch>
        </p:blipFill>
        <p:spPr>
          <a:xfrm>
            <a:off x="6024415" y="3646459"/>
            <a:ext cx="6074820" cy="3076921"/>
          </a:xfrm>
          <a:prstGeom prst="rect">
            <a:avLst/>
          </a:prstGeom>
        </p:spPr>
      </p:pic>
      <p:sp>
        <p:nvSpPr>
          <p:cNvPr id="10" name="Arrow: Down 9">
            <a:extLst>
              <a:ext uri="{FF2B5EF4-FFF2-40B4-BE49-F238E27FC236}">
                <a16:creationId xmlns:a16="http://schemas.microsoft.com/office/drawing/2014/main" id="{C0FAFAC1-4E97-476F-B3AD-4CBEBE65C225}"/>
              </a:ext>
            </a:extLst>
          </p:cNvPr>
          <p:cNvSpPr/>
          <p:nvPr/>
        </p:nvSpPr>
        <p:spPr>
          <a:xfrm rot="7621124">
            <a:off x="10080414" y="6113760"/>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11" name="Picture 10">
            <a:extLst>
              <a:ext uri="{FF2B5EF4-FFF2-40B4-BE49-F238E27FC236}">
                <a16:creationId xmlns:a16="http://schemas.microsoft.com/office/drawing/2014/main" id="{C4CD355D-AE8C-4189-95E5-705D92848133}"/>
              </a:ext>
            </a:extLst>
          </p:cNvPr>
          <p:cNvPicPr>
            <a:picLocks noChangeAspect="1"/>
          </p:cNvPicPr>
          <p:nvPr/>
        </p:nvPicPr>
        <p:blipFill>
          <a:blip r:embed="rId3"/>
          <a:stretch>
            <a:fillRect/>
          </a:stretch>
        </p:blipFill>
        <p:spPr>
          <a:xfrm>
            <a:off x="104195" y="3621379"/>
            <a:ext cx="5802193" cy="3110891"/>
          </a:xfrm>
          <a:prstGeom prst="rect">
            <a:avLst/>
          </a:prstGeom>
        </p:spPr>
      </p:pic>
      <p:sp>
        <p:nvSpPr>
          <p:cNvPr id="14" name="Arrow: Down 13">
            <a:extLst>
              <a:ext uri="{FF2B5EF4-FFF2-40B4-BE49-F238E27FC236}">
                <a16:creationId xmlns:a16="http://schemas.microsoft.com/office/drawing/2014/main" id="{005A3EE0-6505-49BF-80C6-6B77A65D6A23}"/>
              </a:ext>
            </a:extLst>
          </p:cNvPr>
          <p:cNvSpPr/>
          <p:nvPr/>
        </p:nvSpPr>
        <p:spPr>
          <a:xfrm rot="7621124">
            <a:off x="923146" y="5722256"/>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
        <p:nvSpPr>
          <p:cNvPr id="15" name="Arrow: Down 14">
            <a:extLst>
              <a:ext uri="{FF2B5EF4-FFF2-40B4-BE49-F238E27FC236}">
                <a16:creationId xmlns:a16="http://schemas.microsoft.com/office/drawing/2014/main" id="{80514586-7461-4621-BBCC-31849F4C80B6}"/>
              </a:ext>
            </a:extLst>
          </p:cNvPr>
          <p:cNvSpPr/>
          <p:nvPr/>
        </p:nvSpPr>
        <p:spPr>
          <a:xfrm rot="7621124">
            <a:off x="8796767" y="5018754"/>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Tree>
    <p:extLst>
      <p:ext uri="{BB962C8B-B14F-4D97-AF65-F5344CB8AC3E}">
        <p14:creationId xmlns:p14="http://schemas.microsoft.com/office/powerpoint/2010/main" val="3215619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US" sz="2400" b="1" dirty="0">
                <a:solidFill>
                  <a:schemeClr val="bg1"/>
                </a:solidFill>
                <a:latin typeface="+mn-lt"/>
                <a:ea typeface="+mn-ea"/>
                <a:cs typeface="+mn-cs"/>
              </a:rPr>
              <a:t>RAG-</a:t>
            </a:r>
            <a:r>
              <a:rPr lang="en-US" dirty="0">
                <a:solidFill>
                  <a:schemeClr val="bg1"/>
                </a:solidFill>
              </a:rPr>
              <a:t> </a:t>
            </a:r>
            <a:r>
              <a:rPr lang="en-US" sz="2400" b="1" dirty="0">
                <a:solidFill>
                  <a:schemeClr val="bg1"/>
                </a:solidFill>
                <a:latin typeface="+mn-lt"/>
                <a:ea typeface="+mn-ea"/>
                <a:cs typeface="+mn-cs"/>
              </a:rPr>
              <a:t>Retrieval Augmented Generation</a:t>
            </a:r>
            <a:endParaRPr lang="en-IN" sz="2400" b="1" dirty="0">
              <a:solidFill>
                <a:schemeClr val="bg1"/>
              </a:solidFill>
              <a:latin typeface="+mn-lt"/>
              <a:ea typeface="+mn-ea"/>
              <a:cs typeface="+mn-cs"/>
            </a:endParaRP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251791" y="773508"/>
            <a:ext cx="11608905" cy="6006025"/>
          </a:xfrm>
        </p:spPr>
        <p:txBody>
          <a:bodyPr>
            <a:normAutofit/>
          </a:bodyPr>
          <a:lstStyle/>
          <a:p>
            <a:pPr marL="0" indent="0">
              <a:buNone/>
            </a:pPr>
            <a:r>
              <a:rPr lang="en-IN" sz="1800" dirty="0"/>
              <a:t>RAG QA Chatbot is designed to provide accurate and contextually relevant answers by combining retrieval and generation mechanism. It has following workflows.</a:t>
            </a:r>
          </a:p>
          <a:p>
            <a:pPr marL="0" indent="0">
              <a:lnSpc>
                <a:spcPct val="100000"/>
              </a:lnSpc>
              <a:buNone/>
            </a:pPr>
            <a:r>
              <a:rPr lang="en-IN" sz="1600" dirty="0">
                <a:solidFill>
                  <a:srgbClr val="FF0000"/>
                </a:solidFill>
              </a:rPr>
              <a:t>Step:1  </a:t>
            </a:r>
            <a:r>
              <a:rPr lang="en-IN" sz="1600" dirty="0"/>
              <a:t>Ingesting the data file(pdf, text, ppt etc)</a:t>
            </a:r>
          </a:p>
          <a:p>
            <a:pPr marL="0" indent="0">
              <a:lnSpc>
                <a:spcPct val="100000"/>
              </a:lnSpc>
              <a:buNone/>
            </a:pPr>
            <a:r>
              <a:rPr lang="en-IN" sz="1600" dirty="0">
                <a:solidFill>
                  <a:srgbClr val="FF0000"/>
                </a:solidFill>
              </a:rPr>
              <a:t>Step:2  </a:t>
            </a:r>
            <a:r>
              <a:rPr lang="en-IN" sz="1600" dirty="0"/>
              <a:t>Extracting the text from file using Python library’s or OCR to extract the text from Images &amp; Image pdf</a:t>
            </a:r>
          </a:p>
          <a:p>
            <a:pPr marL="0" indent="0" algn="just">
              <a:lnSpc>
                <a:spcPct val="100000"/>
              </a:lnSpc>
              <a:buNone/>
            </a:pPr>
            <a:r>
              <a:rPr lang="en-IN" sz="1600" dirty="0">
                <a:solidFill>
                  <a:srgbClr val="FF0000"/>
                </a:solidFill>
              </a:rPr>
              <a:t>Step:3  </a:t>
            </a:r>
            <a:r>
              <a:rPr lang="en-IN" sz="1600" dirty="0"/>
              <a:t>Splitting the extracted text to small chunks of text for more precise matching with user’s query, more computationally efficient.</a:t>
            </a:r>
          </a:p>
          <a:p>
            <a:pPr marL="0" indent="0" algn="just">
              <a:lnSpc>
                <a:spcPct val="100000"/>
              </a:lnSpc>
              <a:buNone/>
            </a:pPr>
            <a:r>
              <a:rPr lang="en-IN" sz="1600" dirty="0">
                <a:solidFill>
                  <a:srgbClr val="FF0000"/>
                </a:solidFill>
              </a:rPr>
              <a:t>Step:4  </a:t>
            </a:r>
            <a:r>
              <a:rPr lang="en-IN" sz="1600" dirty="0"/>
              <a:t>Using Embeddings to convert the text chunks into embedded vector and store them in Vector DB.</a:t>
            </a:r>
          </a:p>
          <a:p>
            <a:pPr marL="0" indent="0">
              <a:lnSpc>
                <a:spcPct val="100000"/>
              </a:lnSpc>
              <a:buNone/>
            </a:pPr>
            <a:r>
              <a:rPr lang="en-IN" sz="1600" dirty="0">
                <a:solidFill>
                  <a:srgbClr val="FF0000"/>
                </a:solidFill>
              </a:rPr>
              <a:t>Step:5  </a:t>
            </a:r>
            <a:r>
              <a:rPr lang="en-IN" sz="1600" dirty="0"/>
              <a:t>When user asks a query will convert those query into embedding and pass them into Vector DB for similarity and keyword text retrieval using retriever from knowledge base.</a:t>
            </a:r>
          </a:p>
          <a:p>
            <a:pPr marL="0" indent="0">
              <a:lnSpc>
                <a:spcPct val="100000"/>
              </a:lnSpc>
              <a:buNone/>
            </a:pPr>
            <a:r>
              <a:rPr lang="en-IN" sz="1600" dirty="0">
                <a:solidFill>
                  <a:srgbClr val="FF0000"/>
                </a:solidFill>
              </a:rPr>
              <a:t>Step:6  </a:t>
            </a:r>
            <a:r>
              <a:rPr lang="en-IN" sz="1600" dirty="0"/>
              <a:t>Once retrieved multiple chunks of text will pass it to LLM </a:t>
            </a:r>
          </a:p>
          <a:p>
            <a:pPr marL="0" indent="0">
              <a:lnSpc>
                <a:spcPct val="100000"/>
              </a:lnSpc>
              <a:buNone/>
            </a:pPr>
            <a:r>
              <a:rPr lang="en-IN" sz="1600" dirty="0"/>
              <a:t>model for generate the fine and robust output for user query </a:t>
            </a:r>
            <a:r>
              <a:rPr lang="en-IN" sz="1800" dirty="0"/>
              <a:t>		</a:t>
            </a:r>
          </a:p>
        </p:txBody>
      </p:sp>
    </p:spTree>
    <p:extLst>
      <p:ext uri="{BB962C8B-B14F-4D97-AF65-F5344CB8AC3E}">
        <p14:creationId xmlns:p14="http://schemas.microsoft.com/office/powerpoint/2010/main" val="755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54F2-F714-4813-A65D-3A0CA4C2899C}"/>
              </a:ext>
            </a:extLst>
          </p:cNvPr>
          <p:cNvSpPr>
            <a:spLocks noGrp="1"/>
          </p:cNvSpPr>
          <p:nvPr>
            <p:ph type="title"/>
          </p:nvPr>
        </p:nvSpPr>
        <p:spPr>
          <a:xfrm>
            <a:off x="838200" y="-304799"/>
            <a:ext cx="10515600" cy="1078307"/>
          </a:xfrm>
        </p:spPr>
        <p:txBody>
          <a:bodyPr/>
          <a:lstStyle/>
          <a:p>
            <a:pPr algn="ctr"/>
            <a:r>
              <a:rPr lang="en-IN" sz="2400" b="1" dirty="0">
                <a:solidFill>
                  <a:schemeClr val="bg1"/>
                </a:solidFill>
                <a:latin typeface="+mn-lt"/>
                <a:ea typeface="+mn-ea"/>
                <a:cs typeface="+mn-cs"/>
              </a:rPr>
              <a:t>Downloading Google Vision OCR Usage Logs</a:t>
            </a:r>
          </a:p>
        </p:txBody>
      </p:sp>
      <p:sp>
        <p:nvSpPr>
          <p:cNvPr id="8" name="Content Placeholder 7">
            <a:extLst>
              <a:ext uri="{FF2B5EF4-FFF2-40B4-BE49-F238E27FC236}">
                <a16:creationId xmlns:a16="http://schemas.microsoft.com/office/drawing/2014/main" id="{FD41CE95-B6ED-4E9B-8903-02C748881204}"/>
              </a:ext>
            </a:extLst>
          </p:cNvPr>
          <p:cNvSpPr>
            <a:spLocks noGrp="1"/>
          </p:cNvSpPr>
          <p:nvPr>
            <p:ph idx="1"/>
          </p:nvPr>
        </p:nvSpPr>
        <p:spPr>
          <a:xfrm>
            <a:off x="1" y="422910"/>
            <a:ext cx="12271512" cy="6356624"/>
          </a:xfrm>
        </p:spPr>
        <p:txBody>
          <a:bodyPr>
            <a:normAutofit/>
          </a:bodyPr>
          <a:lstStyle/>
          <a:p>
            <a:pPr marL="0" indent="0">
              <a:lnSpc>
                <a:spcPct val="100000"/>
              </a:lnSpc>
              <a:buNone/>
            </a:pPr>
            <a:r>
              <a:rPr lang="en-US" sz="1600" b="1" dirty="0">
                <a:solidFill>
                  <a:srgbClr val="0070C0"/>
                </a:solidFill>
                <a:latin typeface="source-serif-pro"/>
              </a:rPr>
              <a:t>Download OCR Logs :</a:t>
            </a:r>
            <a:endParaRPr lang="en-IN" sz="1600" dirty="0">
              <a:solidFill>
                <a:srgbClr val="FF0000"/>
              </a:solidFill>
            </a:endParaRPr>
          </a:p>
          <a:p>
            <a:pPr marL="0" indent="0">
              <a:lnSpc>
                <a:spcPct val="100000"/>
              </a:lnSpc>
              <a:buNone/>
            </a:pPr>
            <a:r>
              <a:rPr lang="en-US" sz="1400" dirty="0"/>
              <a:t>To review the usage of </a:t>
            </a:r>
            <a:r>
              <a:rPr lang="en-US" sz="1400" b="1" dirty="0"/>
              <a:t>Google Cloud Vision OCR</a:t>
            </a:r>
            <a:r>
              <a:rPr lang="en-US" sz="1400" dirty="0"/>
              <a:t> for extracting text from scanned PDF files:</a:t>
            </a:r>
          </a:p>
          <a:p>
            <a:pPr marL="342900" indent="-342900">
              <a:spcBef>
                <a:spcPts val="600"/>
              </a:spcBef>
              <a:buFont typeface="+mj-lt"/>
              <a:buAutoNum type="arabicPeriod"/>
            </a:pPr>
            <a:r>
              <a:rPr lang="en-US" sz="1400" dirty="0"/>
              <a:t>Navigate to the</a:t>
            </a:r>
            <a:r>
              <a:rPr lang="en-US" sz="1400" dirty="0">
                <a:solidFill>
                  <a:srgbClr val="FF0000"/>
                </a:solidFill>
              </a:rPr>
              <a:t> </a:t>
            </a:r>
            <a:r>
              <a:rPr lang="en-US" sz="1400" b="1" dirty="0">
                <a:solidFill>
                  <a:srgbClr val="FF0000"/>
                </a:solidFill>
              </a:rPr>
              <a:t>Home</a:t>
            </a:r>
            <a:r>
              <a:rPr lang="en-US" sz="1400" dirty="0"/>
              <a:t> page and scroll down to the bottom section.</a:t>
            </a:r>
          </a:p>
          <a:p>
            <a:pPr marL="342900" indent="-342900">
              <a:spcBef>
                <a:spcPts val="600"/>
              </a:spcBef>
              <a:buFont typeface="+mj-lt"/>
              <a:buAutoNum type="arabicPeriod"/>
            </a:pPr>
            <a:r>
              <a:rPr lang="en-US" sz="1400" dirty="0"/>
              <a:t>You will find two options:</a:t>
            </a:r>
          </a:p>
          <a:p>
            <a:pPr marL="742950" lvl="1" indent="-285750">
              <a:spcBef>
                <a:spcPts val="600"/>
              </a:spcBef>
              <a:buFont typeface="Arial" panose="020B0604020202020204" pitchFamily="34" charset="0"/>
              <a:buChar char="•"/>
            </a:pPr>
            <a:r>
              <a:rPr lang="en-US" sz="1400" b="1" dirty="0"/>
              <a:t>Download Full OCR Logs</a:t>
            </a:r>
            <a:r>
              <a:rPr lang="en-US" sz="1400" dirty="0"/>
              <a:t> (from the beginning to the current date)</a:t>
            </a:r>
          </a:p>
          <a:p>
            <a:pPr marL="742950" lvl="1" indent="-285750">
              <a:spcBef>
                <a:spcPts val="600"/>
              </a:spcBef>
              <a:buFont typeface="Arial" panose="020B0604020202020204" pitchFamily="34" charset="0"/>
              <a:buChar char="•"/>
            </a:pPr>
            <a:r>
              <a:rPr lang="en-US" sz="1400" b="1" dirty="0"/>
              <a:t>Download OCR Logs by Date Range</a:t>
            </a:r>
            <a:r>
              <a:rPr lang="en-US" sz="1400" dirty="0"/>
              <a:t> (for a specific date range)</a:t>
            </a:r>
          </a:p>
          <a:p>
            <a:pPr marL="0" indent="0">
              <a:spcBef>
                <a:spcPts val="600"/>
              </a:spcBef>
              <a:buNone/>
            </a:pPr>
            <a:r>
              <a:rPr lang="en-US" sz="1400" dirty="0"/>
              <a:t>3.     To download the complete usage report:</a:t>
            </a:r>
          </a:p>
          <a:p>
            <a:pPr marL="742950" lvl="1" indent="-285750">
              <a:spcBef>
                <a:spcPts val="600"/>
              </a:spcBef>
              <a:buFont typeface="Arial" panose="020B0604020202020204" pitchFamily="34" charset="0"/>
              <a:buChar char="•"/>
            </a:pPr>
            <a:r>
              <a:rPr lang="en-US" sz="1400" dirty="0"/>
              <a:t>Click the </a:t>
            </a:r>
            <a:r>
              <a:rPr lang="en-US" sz="1400" b="1" dirty="0">
                <a:solidFill>
                  <a:srgbClr val="FF0000"/>
                </a:solidFill>
              </a:rPr>
              <a:t>“Download Full OCR Logs”</a:t>
            </a:r>
            <a:r>
              <a:rPr lang="en-US" sz="1400" dirty="0">
                <a:solidFill>
                  <a:srgbClr val="FF0000"/>
                </a:solidFill>
              </a:rPr>
              <a:t> </a:t>
            </a:r>
            <a:r>
              <a:rPr lang="en-US" sz="1400" dirty="0"/>
              <a:t>button. This will retrieve the OCR usage data from MongoDB.</a:t>
            </a:r>
          </a:p>
          <a:p>
            <a:pPr marL="742950" lvl="1" indent="-285750">
              <a:spcBef>
                <a:spcPts val="600"/>
              </a:spcBef>
              <a:buFont typeface="Arial" panose="020B0604020202020204" pitchFamily="34" charset="0"/>
              <a:buChar char="•"/>
            </a:pPr>
            <a:r>
              <a:rPr lang="en-US" sz="1400" dirty="0"/>
              <a:t>Once processed, click the </a:t>
            </a:r>
            <a:r>
              <a:rPr lang="en-US" sz="1400" b="1" dirty="0">
                <a:solidFill>
                  <a:srgbClr val="7030A0"/>
                </a:solidFill>
              </a:rPr>
              <a:t>“Click to Download CSV”</a:t>
            </a:r>
            <a:r>
              <a:rPr lang="en-US" sz="1400" dirty="0">
                <a:solidFill>
                  <a:srgbClr val="7030A0"/>
                </a:solidFill>
              </a:rPr>
              <a:t> </a:t>
            </a:r>
            <a:r>
              <a:rPr lang="en-US" sz="1400" dirty="0"/>
              <a:t>button to download the report.</a:t>
            </a:r>
          </a:p>
          <a:p>
            <a:pPr marL="0" indent="0">
              <a:lnSpc>
                <a:spcPct val="100000"/>
              </a:lnSpc>
              <a:spcBef>
                <a:spcPts val="600"/>
              </a:spcBef>
              <a:buNone/>
            </a:pPr>
            <a:r>
              <a:rPr lang="en-US" sz="1400" dirty="0"/>
              <a:t>The downloaded Excel file includes information like </a:t>
            </a:r>
          </a:p>
          <a:p>
            <a:pPr>
              <a:spcBef>
                <a:spcPts val="600"/>
              </a:spcBef>
              <a:buFont typeface="Arial" panose="020B0604020202020204" pitchFamily="34" charset="0"/>
              <a:buChar char="•"/>
            </a:pPr>
            <a:r>
              <a:rPr lang="en-US" sz="1400" dirty="0"/>
              <a:t>List of processed PDF files, </a:t>
            </a:r>
          </a:p>
          <a:p>
            <a:pPr>
              <a:spcBef>
                <a:spcPts val="600"/>
              </a:spcBef>
              <a:buFont typeface="Arial" panose="020B0604020202020204" pitchFamily="34" charset="0"/>
              <a:buChar char="•"/>
            </a:pPr>
            <a:r>
              <a:rPr lang="en-US" sz="1400" dirty="0"/>
              <a:t>User information (who accessed the OCR service)</a:t>
            </a:r>
          </a:p>
          <a:p>
            <a:pPr>
              <a:spcBef>
                <a:spcPts val="600"/>
              </a:spcBef>
              <a:buFont typeface="Arial" panose="020B0604020202020204" pitchFamily="34" charset="0"/>
              <a:buChar char="•"/>
            </a:pPr>
            <a:r>
              <a:rPr lang="en-US" sz="1400" dirty="0"/>
              <a:t>Date of processing, </a:t>
            </a:r>
          </a:p>
          <a:p>
            <a:pPr>
              <a:spcBef>
                <a:spcPts val="600"/>
              </a:spcBef>
              <a:buFont typeface="Arial" panose="020B0604020202020204" pitchFamily="34" charset="0"/>
              <a:buChar char="•"/>
            </a:pPr>
            <a:r>
              <a:rPr lang="en-US" sz="1400" dirty="0"/>
              <a:t>Application used for processing</a:t>
            </a:r>
          </a:p>
          <a:p>
            <a:pPr marL="0" indent="0">
              <a:lnSpc>
                <a:spcPct val="100000"/>
              </a:lnSpc>
              <a:buNone/>
            </a:pPr>
            <a:endParaRPr lang="en-US" sz="13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a:p>
            <a:pPr marL="0" indent="0">
              <a:lnSpc>
                <a:spcPct val="100000"/>
              </a:lnSpc>
              <a:buNone/>
            </a:pPr>
            <a:endParaRPr lang="en-IN" sz="1000" dirty="0"/>
          </a:p>
        </p:txBody>
      </p:sp>
      <p:pic>
        <p:nvPicPr>
          <p:cNvPr id="9" name="Picture 8">
            <a:extLst>
              <a:ext uri="{FF2B5EF4-FFF2-40B4-BE49-F238E27FC236}">
                <a16:creationId xmlns:a16="http://schemas.microsoft.com/office/drawing/2014/main" id="{1CC566D1-9B90-4941-8D44-0C5C496BC5EF}"/>
              </a:ext>
            </a:extLst>
          </p:cNvPr>
          <p:cNvPicPr>
            <a:picLocks noChangeAspect="1"/>
          </p:cNvPicPr>
          <p:nvPr/>
        </p:nvPicPr>
        <p:blipFill>
          <a:blip r:embed="rId2"/>
          <a:stretch>
            <a:fillRect/>
          </a:stretch>
        </p:blipFill>
        <p:spPr>
          <a:xfrm>
            <a:off x="4692448" y="3074758"/>
            <a:ext cx="7523050" cy="3470900"/>
          </a:xfrm>
          <a:prstGeom prst="rect">
            <a:avLst/>
          </a:prstGeom>
        </p:spPr>
      </p:pic>
      <p:sp>
        <p:nvSpPr>
          <p:cNvPr id="13" name="Arrow: Down 12">
            <a:extLst>
              <a:ext uri="{FF2B5EF4-FFF2-40B4-BE49-F238E27FC236}">
                <a16:creationId xmlns:a16="http://schemas.microsoft.com/office/drawing/2014/main" id="{82263E5E-1D24-4EEB-813F-42D0E02D5B07}"/>
              </a:ext>
            </a:extLst>
          </p:cNvPr>
          <p:cNvSpPr/>
          <p:nvPr/>
        </p:nvSpPr>
        <p:spPr>
          <a:xfrm rot="7621124">
            <a:off x="7705280" y="4260198"/>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pic>
        <p:nvPicPr>
          <p:cNvPr id="10" name="Picture 9">
            <a:extLst>
              <a:ext uri="{FF2B5EF4-FFF2-40B4-BE49-F238E27FC236}">
                <a16:creationId xmlns:a16="http://schemas.microsoft.com/office/drawing/2014/main" id="{7AD09E6F-C5AC-45B9-91C7-FF4550E39664}"/>
              </a:ext>
            </a:extLst>
          </p:cNvPr>
          <p:cNvPicPr>
            <a:picLocks noChangeAspect="1"/>
          </p:cNvPicPr>
          <p:nvPr/>
        </p:nvPicPr>
        <p:blipFill>
          <a:blip r:embed="rId3"/>
          <a:stretch>
            <a:fillRect/>
          </a:stretch>
        </p:blipFill>
        <p:spPr>
          <a:xfrm>
            <a:off x="58475" y="4487127"/>
            <a:ext cx="4599171" cy="2058531"/>
          </a:xfrm>
          <a:prstGeom prst="rect">
            <a:avLst/>
          </a:prstGeom>
        </p:spPr>
      </p:pic>
      <p:sp>
        <p:nvSpPr>
          <p:cNvPr id="14" name="Arrow: Down 13">
            <a:extLst>
              <a:ext uri="{FF2B5EF4-FFF2-40B4-BE49-F238E27FC236}">
                <a16:creationId xmlns:a16="http://schemas.microsoft.com/office/drawing/2014/main" id="{C70F4B7F-25D4-4A0D-B97B-8C88EFD4B5DB}"/>
              </a:ext>
            </a:extLst>
          </p:cNvPr>
          <p:cNvSpPr/>
          <p:nvPr/>
        </p:nvSpPr>
        <p:spPr>
          <a:xfrm rot="7621124">
            <a:off x="7906746" y="3991135"/>
            <a:ext cx="160346" cy="292691"/>
          </a:xfrm>
          <a:prstGeom prst="down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00"/>
              </a:solidFill>
            </a:endParaRPr>
          </a:p>
        </p:txBody>
      </p:sp>
    </p:spTree>
    <p:extLst>
      <p:ext uri="{BB962C8B-B14F-4D97-AF65-F5344CB8AC3E}">
        <p14:creationId xmlns:p14="http://schemas.microsoft.com/office/powerpoint/2010/main" val="2435794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58B6844-18B4-4628-9C20-5FC08F03EF7F}"/>
              </a:ext>
            </a:extLst>
          </p:cNvPr>
          <p:cNvSpPr>
            <a:spLocks noGrp="1"/>
          </p:cNvSpPr>
          <p:nvPr>
            <p:ph type="subTitle" idx="1"/>
          </p:nvPr>
        </p:nvSpPr>
        <p:spPr>
          <a:xfrm>
            <a:off x="1" y="0"/>
            <a:ext cx="12192000" cy="6858000"/>
          </a:xfrm>
        </p:spPr>
        <p:txBody>
          <a:bodyPr/>
          <a:lstStyle/>
          <a:p>
            <a:r>
              <a:rPr lang="en-US" b="1" dirty="0">
                <a:solidFill>
                  <a:schemeClr val="bg1"/>
                </a:solidFill>
              </a:rPr>
              <a:t>Google Cloud Vision OCR </a:t>
            </a:r>
          </a:p>
          <a:p>
            <a:pPr algn="l"/>
            <a:r>
              <a:rPr lang="en-US" sz="1600" b="0" i="0" dirty="0">
                <a:solidFill>
                  <a:srgbClr val="00B0F0"/>
                </a:solidFill>
                <a:effectLst/>
              </a:rPr>
              <a:t>OCR- Optical Character Recognition </a:t>
            </a:r>
            <a:r>
              <a:rPr lang="en-US" sz="1600" b="0" i="0" dirty="0">
                <a:effectLst/>
              </a:rPr>
              <a:t>used to convert into searchable or extract content from scanned paper documents, PDF or Images. </a:t>
            </a:r>
          </a:p>
          <a:p>
            <a:pPr algn="l"/>
            <a:r>
              <a:rPr lang="en-US" sz="1600" dirty="0"/>
              <a:t>Google Cloud Vision OCR is used to </a:t>
            </a:r>
            <a:r>
              <a:rPr lang="en-US" sz="1600" b="0" i="0" dirty="0">
                <a:effectLst/>
              </a:rPr>
              <a:t>detect and extract text and structure (tables, titles, paragraphs, selection marks) from Images, scanned documents using OCR which is a </a:t>
            </a:r>
            <a:r>
              <a:rPr lang="en-US" sz="1600" dirty="0"/>
              <a:t>Deep Learning- Computer Vision t</a:t>
            </a:r>
            <a:r>
              <a:rPr lang="en-US" sz="1600" b="0" i="0" dirty="0">
                <a:effectLst/>
              </a:rPr>
              <a:t>echnology </a:t>
            </a:r>
          </a:p>
          <a:p>
            <a:pPr algn="l"/>
            <a:r>
              <a:rPr lang="en-US" sz="1600" b="1" dirty="0">
                <a:solidFill>
                  <a:srgbClr val="FF0000"/>
                </a:solidFill>
              </a:rPr>
              <a:t>Pros: </a:t>
            </a:r>
            <a:r>
              <a:rPr lang="en-US" sz="1600" dirty="0"/>
              <a:t>Paid OCR’s are Fast and accurate in Text Extraction from Image documents compare to open source OCR, which is lag in accuracy, data loss</a:t>
            </a:r>
          </a:p>
          <a:p>
            <a:pPr algn="l"/>
            <a:r>
              <a:rPr lang="en-US" sz="1600" dirty="0"/>
              <a:t>and slow in extracting texts. </a:t>
            </a:r>
          </a:p>
          <a:p>
            <a:pPr algn="just"/>
            <a:r>
              <a:rPr lang="en-US" sz="1600" b="1" dirty="0">
                <a:solidFill>
                  <a:schemeClr val="accent6"/>
                </a:solidFill>
              </a:rPr>
              <a:t>Costing Link </a:t>
            </a:r>
            <a:r>
              <a:rPr lang="en-US" sz="1600" b="1" dirty="0"/>
              <a:t>: </a:t>
            </a:r>
            <a:r>
              <a:rPr lang="en-US" sz="1600" b="1" dirty="0">
                <a:hlinkClick r:id="rId2"/>
              </a:rPr>
              <a:t> Google Cloud Vision OCR Costing</a:t>
            </a:r>
            <a:endParaRPr lang="en-US" sz="1600" b="1" dirty="0"/>
          </a:p>
          <a:p>
            <a:pPr algn="just"/>
            <a:endParaRPr lang="en-US" b="1" dirty="0">
              <a:solidFill>
                <a:schemeClr val="accent1">
                  <a:lumMod val="75000"/>
                </a:schemeClr>
              </a:solidFill>
            </a:endParaRPr>
          </a:p>
          <a:p>
            <a:endParaRPr lang="en-IN" b="1" dirty="0">
              <a:solidFill>
                <a:schemeClr val="accent1">
                  <a:lumMod val="75000"/>
                </a:schemeClr>
              </a:solidFill>
            </a:endParaRPr>
          </a:p>
        </p:txBody>
      </p:sp>
      <p:graphicFrame>
        <p:nvGraphicFramePr>
          <p:cNvPr id="4" name="Table 6">
            <a:extLst>
              <a:ext uri="{FF2B5EF4-FFF2-40B4-BE49-F238E27FC236}">
                <a16:creationId xmlns:a16="http://schemas.microsoft.com/office/drawing/2014/main" id="{C416E547-A519-4ABE-A7D3-3BEBD014E5AE}"/>
              </a:ext>
            </a:extLst>
          </p:cNvPr>
          <p:cNvGraphicFramePr>
            <a:graphicFrameLocks noGrp="1"/>
          </p:cNvGraphicFramePr>
          <p:nvPr>
            <p:extLst>
              <p:ext uri="{D42A27DB-BD31-4B8C-83A1-F6EECF244321}">
                <p14:modId xmlns:p14="http://schemas.microsoft.com/office/powerpoint/2010/main" val="788868897"/>
              </p:ext>
            </p:extLst>
          </p:nvPr>
        </p:nvGraphicFramePr>
        <p:xfrm>
          <a:off x="1523998" y="2728913"/>
          <a:ext cx="8902702" cy="1583650"/>
        </p:xfrm>
        <a:graphic>
          <a:graphicData uri="http://schemas.openxmlformats.org/drawingml/2006/table">
            <a:tbl>
              <a:tblPr firstRow="1" bandRow="1">
                <a:tableStyleId>{5C22544A-7EE6-4342-B048-85BDC9FD1C3A}</a:tableStyleId>
              </a:tblPr>
              <a:tblGrid>
                <a:gridCol w="2757425">
                  <a:extLst>
                    <a:ext uri="{9D8B030D-6E8A-4147-A177-3AD203B41FA5}">
                      <a16:colId xmlns:a16="http://schemas.microsoft.com/office/drawing/2014/main" val="3348007251"/>
                    </a:ext>
                  </a:extLst>
                </a:gridCol>
                <a:gridCol w="1586129">
                  <a:extLst>
                    <a:ext uri="{9D8B030D-6E8A-4147-A177-3AD203B41FA5}">
                      <a16:colId xmlns:a16="http://schemas.microsoft.com/office/drawing/2014/main" val="841049391"/>
                    </a:ext>
                  </a:extLst>
                </a:gridCol>
                <a:gridCol w="2171777">
                  <a:extLst>
                    <a:ext uri="{9D8B030D-6E8A-4147-A177-3AD203B41FA5}">
                      <a16:colId xmlns:a16="http://schemas.microsoft.com/office/drawing/2014/main" val="1352108400"/>
                    </a:ext>
                  </a:extLst>
                </a:gridCol>
                <a:gridCol w="2387371">
                  <a:extLst>
                    <a:ext uri="{9D8B030D-6E8A-4147-A177-3AD203B41FA5}">
                      <a16:colId xmlns:a16="http://schemas.microsoft.com/office/drawing/2014/main" val="724412526"/>
                    </a:ext>
                  </a:extLst>
                </a:gridCol>
              </a:tblGrid>
              <a:tr h="638285">
                <a:tc>
                  <a:txBody>
                    <a:bodyPr/>
                    <a:lstStyle/>
                    <a:p>
                      <a:r>
                        <a:rPr lang="en-IN" dirty="0"/>
                        <a:t>Feature</a:t>
                      </a:r>
                    </a:p>
                  </a:txBody>
                  <a:tcPr/>
                </a:tc>
                <a:tc>
                  <a:txBody>
                    <a:bodyPr/>
                    <a:lstStyle/>
                    <a:p>
                      <a:r>
                        <a:rPr lang="en-IN" dirty="0"/>
                        <a:t>First 1000 units/month</a:t>
                      </a:r>
                    </a:p>
                  </a:txBody>
                  <a:tcPr/>
                </a:tc>
                <a:tc>
                  <a:txBody>
                    <a:bodyPr/>
                    <a:lstStyle/>
                    <a:p>
                      <a:r>
                        <a:rPr lang="en-IN" dirty="0"/>
                        <a:t>Units 1001- 5,00,000 /month</a:t>
                      </a:r>
                    </a:p>
                  </a:txBody>
                  <a:tcPr/>
                </a:tc>
                <a:tc>
                  <a:txBody>
                    <a:bodyPr/>
                    <a:lstStyle/>
                    <a:p>
                      <a:r>
                        <a:rPr lang="en-IN" dirty="0"/>
                        <a:t>More than </a:t>
                      </a:r>
                    </a:p>
                    <a:p>
                      <a:r>
                        <a:rPr lang="en-IN" dirty="0"/>
                        <a:t>5,00,001/ month</a:t>
                      </a:r>
                    </a:p>
                  </a:txBody>
                  <a:tcPr/>
                </a:tc>
                <a:extLst>
                  <a:ext uri="{0D108BD9-81ED-4DB2-BD59-A6C34878D82A}">
                    <a16:rowId xmlns:a16="http://schemas.microsoft.com/office/drawing/2014/main" val="4062869593"/>
                  </a:ext>
                </a:extLst>
              </a:tr>
              <a:tr h="383500">
                <a:tc>
                  <a:txBody>
                    <a:bodyPr/>
                    <a:lstStyle/>
                    <a:p>
                      <a:r>
                        <a:rPr lang="en-IN" dirty="0"/>
                        <a:t>Text Detection</a:t>
                      </a:r>
                    </a:p>
                  </a:txBody>
                  <a:tcPr/>
                </a:tc>
                <a:tc>
                  <a:txBody>
                    <a:bodyPr/>
                    <a:lstStyle/>
                    <a:p>
                      <a:r>
                        <a:rPr lang="en-IN" dirty="0"/>
                        <a:t>Free</a:t>
                      </a:r>
                    </a:p>
                  </a:txBody>
                  <a:tcPr/>
                </a:tc>
                <a:tc>
                  <a:txBody>
                    <a:bodyPr/>
                    <a:lstStyle/>
                    <a:p>
                      <a:r>
                        <a:rPr lang="en-IN" dirty="0"/>
                        <a:t>$ 1.50</a:t>
                      </a:r>
                    </a:p>
                  </a:txBody>
                  <a:tcPr/>
                </a:tc>
                <a:tc>
                  <a:txBody>
                    <a:bodyPr/>
                    <a:lstStyle/>
                    <a:p>
                      <a:r>
                        <a:rPr lang="en-IN" dirty="0"/>
                        <a:t>$ 0.60</a:t>
                      </a:r>
                    </a:p>
                  </a:txBody>
                  <a:tcPr/>
                </a:tc>
                <a:extLst>
                  <a:ext uri="{0D108BD9-81ED-4DB2-BD59-A6C34878D82A}">
                    <a16:rowId xmlns:a16="http://schemas.microsoft.com/office/drawing/2014/main" val="3931119775"/>
                  </a:ext>
                </a:extLst>
              </a:tr>
              <a:tr h="558499">
                <a:tc>
                  <a:txBody>
                    <a:bodyPr/>
                    <a:lstStyle/>
                    <a:p>
                      <a:pPr algn="l" fontAlgn="t"/>
                      <a:r>
                        <a:rPr lang="en-IN" dirty="0">
                          <a:effectLst/>
                        </a:rPr>
                        <a:t>Document Text Detection</a:t>
                      </a:r>
                    </a:p>
                  </a:txBody>
                  <a:tcPr marL="152400" marR="152400" marT="142875" marB="142875"/>
                </a:tc>
                <a:tc>
                  <a:txBody>
                    <a:bodyPr/>
                    <a:lstStyle/>
                    <a:p>
                      <a:pPr algn="l" fontAlgn="t"/>
                      <a:r>
                        <a:rPr lang="en-IN" dirty="0">
                          <a:effectLst/>
                        </a:rPr>
                        <a:t>Free</a:t>
                      </a:r>
                    </a:p>
                  </a:txBody>
                  <a:tcPr marL="152400" marR="152400" marT="142875" marB="142875"/>
                </a:tc>
                <a:tc>
                  <a:txBody>
                    <a:bodyPr/>
                    <a:lstStyle/>
                    <a:p>
                      <a:pPr algn="l" fontAlgn="t"/>
                      <a:r>
                        <a:rPr lang="en-IN">
                          <a:effectLst/>
                        </a:rPr>
                        <a:t>$1.50</a:t>
                      </a:r>
                    </a:p>
                  </a:txBody>
                  <a:tcPr marL="152400" marR="152400" marT="142875" marB="142875"/>
                </a:tc>
                <a:tc>
                  <a:txBody>
                    <a:bodyPr/>
                    <a:lstStyle/>
                    <a:p>
                      <a:pPr algn="l" fontAlgn="t"/>
                      <a:r>
                        <a:rPr lang="en-IN" dirty="0">
                          <a:effectLst/>
                        </a:rPr>
                        <a:t>$0.60</a:t>
                      </a:r>
                    </a:p>
                  </a:txBody>
                  <a:tcPr marL="152400" marR="152400" marT="142875" marB="142875"/>
                </a:tc>
                <a:extLst>
                  <a:ext uri="{0D108BD9-81ED-4DB2-BD59-A6C34878D82A}">
                    <a16:rowId xmlns:a16="http://schemas.microsoft.com/office/drawing/2014/main" val="971189522"/>
                  </a:ext>
                </a:extLst>
              </a:tr>
            </a:tbl>
          </a:graphicData>
        </a:graphic>
      </p:graphicFrame>
    </p:spTree>
    <p:extLst>
      <p:ext uri="{BB962C8B-B14F-4D97-AF65-F5344CB8AC3E}">
        <p14:creationId xmlns:p14="http://schemas.microsoft.com/office/powerpoint/2010/main" val="3483186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TotalTime>
  <Words>1953</Words>
  <Application>Microsoft Office PowerPoint</Application>
  <PresentationFormat>Widescreen</PresentationFormat>
  <Paragraphs>137</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source-serif-pro</vt:lpstr>
      <vt:lpstr>Times New Roman</vt:lpstr>
      <vt:lpstr>Office Theme</vt:lpstr>
      <vt:lpstr>PowerPoint Presentation</vt:lpstr>
      <vt:lpstr>Generative AI Apps</vt:lpstr>
      <vt:lpstr>Generative AI Apps</vt:lpstr>
      <vt:lpstr>Keyword Search App</vt:lpstr>
      <vt:lpstr>Keyword Search App – File Manager Features</vt:lpstr>
      <vt:lpstr>Keyword Search App – File Manager Features</vt:lpstr>
      <vt:lpstr>QA Chatbot App</vt:lpstr>
      <vt:lpstr>RAG- Retrieval Augmented Generation</vt:lpstr>
      <vt:lpstr>Downloading Google Vision OCR Usage Logs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Manirathinam -Data Scientist-Business Enabler-Chennai-HO-CIFCL</dc:creator>
  <cp:lastModifiedBy>Manirathinam -Data Scientist-Business Enabler-Chennai-HO-CIFCL</cp:lastModifiedBy>
  <cp:revision>29</cp:revision>
  <dcterms:modified xsi:type="dcterms:W3CDTF">2026-01-13T06:22:03Z</dcterms:modified>
</cp:coreProperties>
</file>